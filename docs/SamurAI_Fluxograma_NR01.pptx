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SamurAI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Fluxograma Completo — 10 Fases NR-01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Portaria MTE n. 1.419/2024 — Riscos Psicossociais Ocupacionais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Belt Platform v2.0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Visao Geral das 10 Fases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9601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46304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38100" dist="25400" dir="16200000">
              <a:srgbClr val="CCCCCC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da Empresa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2057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cadastrada com perfil completo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32888" y="960120"/>
            <a:ext cx="457200" cy="45720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1" name="Text 9"/>
          <p:cNvSpPr/>
          <p:nvPr/>
        </p:nvSpPr>
        <p:spPr>
          <a:xfrm>
            <a:off x="2532888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38528" y="146304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7B68EE"/>
            </a:solidFill>
            <a:prstDash val="solid"/>
          </a:ln>
          <a:effectLst>
            <a:outerShdw sx="100000" sy="100000" kx="0" ky="0" algn="bl" rotWithShape="0" blurRad="38100" dist="25400" dir="16200000">
              <a:srgbClr val="CCCCCC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38528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38528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Diagnostico e Pre-Proposta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84248" y="2057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Pre-proposta enviada a empresa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121408" y="2487168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E1F5F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2487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1 email(s)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38728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88536" y="960120"/>
            <a:ext cx="457200" cy="457200"/>
          </a:xfrm>
          <a:prstGeom prst="ellipse">
            <a:avLst/>
          </a:prstGeom>
          <a:solidFill>
            <a:srgbClr val="20B2AA"/>
          </a:solidFill>
          <a:ln/>
        </p:spPr>
      </p:sp>
      <p:sp>
        <p:nvSpPr>
          <p:cNvPr id="20" name="Text 18"/>
          <p:cNvSpPr/>
          <p:nvPr/>
        </p:nvSpPr>
        <p:spPr>
          <a:xfrm>
            <a:off x="4288536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94176" y="146304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0B2AA"/>
            </a:solidFill>
            <a:prstDash val="solid"/>
          </a:ln>
          <a:effectLst>
            <a:outerShdw sx="100000" sy="100000" kx="0" ky="0" algn="bl" rotWithShape="0" blurRad="38100" dist="25400" dir="16200000">
              <a:srgbClr val="CCCCCC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94176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B2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CONTRATACAO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94176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Aprovacao e Acesso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39896" y="2057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com acesso + pagamento iniciado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77056" y="2487168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E1F5F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77056" y="2487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3 email(s)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294376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0B2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44184" y="960120"/>
            <a:ext cx="457200" cy="45720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9" name="Text 27"/>
          <p:cNvSpPr/>
          <p:nvPr/>
        </p:nvSpPr>
        <p:spPr>
          <a:xfrm>
            <a:off x="6044184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49824" y="146304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F8C00"/>
            </a:solidFill>
            <a:prstDash val="solid"/>
          </a:ln>
          <a:effectLst>
            <a:outerShdw sx="100000" sy="100000" kx="0" ky="0" algn="bl" rotWithShape="0" blurRad="38100" dist="25400" dir="16200000">
              <a:srgbClr val="CCCCCC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49824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AVALIACAO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49824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Aplicacao COPSOQ-II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95544" y="2057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COPSOQ-II coletadas (&gt;= 70%)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632704" y="2487168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E1F5F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32704" y="2487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4 email(s)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050024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799832" y="960120"/>
            <a:ext cx="457200" cy="457200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38" name="Text 36"/>
          <p:cNvSpPr/>
          <p:nvPr/>
        </p:nvSpPr>
        <p:spPr>
          <a:xfrm>
            <a:off x="7799832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05472" y="146304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C143C"/>
            </a:solidFill>
            <a:prstDash val="solid"/>
          </a:ln>
          <a:effectLst>
            <a:outerShdw sx="100000" sy="100000" kx="0" ky="0" algn="bl" rotWithShape="0" blurRad="38100" dist="25400" dir="16200000">
              <a:srgbClr val="CCCCCC">
                <a:alpha val="7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205472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05472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por IA e Devolutiva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251192" y="2057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Relatorio COPSOQ-II + devolutiva enviada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388352" y="2487168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E1F5F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2487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2 email(s)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82880" y="35661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sx="100000" sy="100000" kx="0" ky="0" algn="bl" rotWithShape="0" blurRad="38100" dist="25400" dir="16200000">
              <a:srgbClr val="CCCCCC">
                <a:alpha val="7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8288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8288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Riscos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28600" y="4160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riscos com classificacao GRO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783080" y="3977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2532888" y="3063240"/>
            <a:ext cx="457200" cy="457200"/>
          </a:xfrm>
          <a:prstGeom prst="ellipse">
            <a:avLst/>
          </a:prstGeom>
          <a:solidFill>
            <a:srgbClr val="228B22"/>
          </a:solidFill>
          <a:ln/>
        </p:spPr>
      </p:sp>
      <p:sp>
        <p:nvSpPr>
          <p:cNvPr id="53" name="Text 51"/>
          <p:cNvSpPr/>
          <p:nvPr/>
        </p:nvSpPr>
        <p:spPr>
          <a:xfrm>
            <a:off x="2532888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938528" y="35661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28B22"/>
            </a:solidFill>
            <a:prstDash val="solid"/>
          </a:ln>
          <a:effectLst>
            <a:outerShdw sx="100000" sy="100000" kx="0" ky="0" algn="bl" rotWithShape="0" blurRad="38100" dist="25400" dir="16200000">
              <a:srgbClr val="CCCCCC">
                <a:alpha val="7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938528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ACAO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938528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Preventivas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84248" y="4160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acao + Documento GRO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38728" y="3977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4288536" y="3063240"/>
            <a:ext cx="457200" cy="457200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60" name="Text 58"/>
          <p:cNvSpPr/>
          <p:nvPr/>
        </p:nvSpPr>
        <p:spPr>
          <a:xfrm>
            <a:off x="4288536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694176" y="35661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9370DB"/>
            </a:solidFill>
            <a:prstDash val="solid"/>
          </a:ln>
          <a:effectLst>
            <a:outerShdw sx="100000" sy="100000" kx="0" ky="0" algn="bl" rotWithShape="0" blurRad="38100" dist="25400" dir="16200000">
              <a:srgbClr val="CCCCCC">
                <a:alpha val="7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694176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7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94176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Capacitacao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739896" y="4160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de treinamento criados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294376" y="3977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7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6044184" y="3063240"/>
            <a:ext cx="457200" cy="4572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67" name="Text 65"/>
          <p:cNvSpPr/>
          <p:nvPr/>
        </p:nvSpPr>
        <p:spPr>
          <a:xfrm>
            <a:off x="6044184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449824" y="35661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169E1"/>
            </a:solidFill>
            <a:prstDash val="solid"/>
          </a:ln>
          <a:effectLst>
            <a:outerShdw sx="100000" sy="100000" kx="0" ky="0" algn="bl" rotWithShape="0" blurRad="38100" dist="25400" dir="16200000">
              <a:srgbClr val="CCCCCC">
                <a:alpha val="7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5449824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16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DOCUMENTACAO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449824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Final e Documentos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95544" y="4160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documentos PDF assinados e entregues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632704" y="4590288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E1F5F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32704" y="45902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3 email(s)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7050024" y="3977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16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7799832" y="3063240"/>
            <a:ext cx="457200" cy="457200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76" name="Text 74"/>
          <p:cNvSpPr/>
          <p:nvPr/>
        </p:nvSpPr>
        <p:spPr>
          <a:xfrm>
            <a:off x="7799832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205472" y="35661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AA520"/>
            </a:solidFill>
            <a:prstDash val="solid"/>
          </a:ln>
          <a:effectLst>
            <a:outerShdw sx="100000" sy="100000" kx="0" ky="0" algn="bl" rotWithShape="0" blurRad="38100" dist="25400" dir="16200000">
              <a:srgbClr val="CCCCCC">
                <a:alpha val="7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205472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CERTIFICACAO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205472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NR-01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251192" y="4160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de Conformidade NR-01 emitido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388352" y="4590288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E1F5FE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88352" y="45902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1 email(s)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206240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ONBOARDING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da Empresa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52144"/>
            <a:ext cx="301752" cy="30175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 informa CNPJ no chat do SamurAI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682496"/>
            <a:ext cx="0" cy="73152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55648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810512"/>
            <a:ext cx="301752" cy="30175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81051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75564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SamurAI consulta Receita Federal (API CNPJ)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340864"/>
            <a:ext cx="0" cy="73152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14016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2468880"/>
            <a:ext cx="301752" cy="30175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46888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41401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Extrai: Razao Social, setor, porte, endereco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999232"/>
            <a:ext cx="0" cy="73152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72384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3127248"/>
            <a:ext cx="301752" cy="30175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12724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07238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 confirma dados e numero de colaboradores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657600"/>
            <a:ext cx="0" cy="73152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30752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3785616"/>
            <a:ext cx="301752" cy="30175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7856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73075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cria registro da empresa no tenant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353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cadastrada com perfil completo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22860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3042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TRANSICAO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 validado + headcount informado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Proxima fase: DIAGNOSTICO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DIAGNOSTICO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Diagnostico e Pre-Proposta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52144"/>
            <a:ext cx="301752" cy="301752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 perfil da empresa (setor, porte, risco)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591056"/>
            <a:ext cx="0" cy="73152"/>
          </a:xfrm>
          <a:prstGeom prst="line">
            <a:avLst/>
          </a:prstGeom>
          <a:noFill/>
          <a:ln w="25400">
            <a:solidFill>
              <a:srgbClr val="7B6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64208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719072"/>
            <a:ext cx="301752" cy="301752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71907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6642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checklist de 25 itens NR-01 + 11 milestones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157984"/>
            <a:ext cx="0" cy="73152"/>
          </a:xfrm>
          <a:prstGeom prst="line">
            <a:avLst/>
          </a:prstGeom>
          <a:noFill/>
          <a:ln w="25400">
            <a:solidFill>
              <a:srgbClr val="7B6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31136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2286000"/>
            <a:ext cx="301752" cy="301752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2860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2311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precificacao por porte e complexidade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724912"/>
            <a:ext cx="0" cy="73152"/>
          </a:xfrm>
          <a:prstGeom prst="line">
            <a:avLst/>
          </a:prstGeom>
          <a:noFill/>
          <a:ln w="25400">
            <a:solidFill>
              <a:srgbClr val="7B6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98064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2852928"/>
            <a:ext cx="301752" cy="301752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28529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79806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pre-proposta comercial automaticamente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291840"/>
            <a:ext cx="0" cy="73152"/>
          </a:xfrm>
          <a:prstGeom prst="line">
            <a:avLst/>
          </a:prstGeom>
          <a:noFill/>
          <a:ln w="25400">
            <a:solidFill>
              <a:srgbClr val="7B68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3419856"/>
            <a:ext cx="301752" cy="301752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41985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3649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pre-proposta para aprovacao da empresa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353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Pre-proposta enviada a empresa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22860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3042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TRANSICAO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criada com setor e porte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337560"/>
            <a:ext cx="3200400" cy="621792"/>
          </a:xfrm>
          <a:prstGeom prst="roundRect">
            <a:avLst>
              <a:gd name="adj" fmla="val 14706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3558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COMUNICACOES POR EMAIL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611880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361188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 →  Empresa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60720" y="377647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Pre-proposta comercial com servicos, valores e botoes Aprovar / Rejeitar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Proxima fase: CONTRATACAO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0B2A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CONTRATACAO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Aprovacao e Acesso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0B2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52144"/>
            <a:ext cx="301752" cy="301752"/>
          </a:xfrm>
          <a:prstGeom prst="ellipse">
            <a:avLst/>
          </a:prstGeom>
          <a:solidFill>
            <a:srgbClr val="20B2AA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clica 'Aprovar' no email da proposta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591056"/>
            <a:ext cx="0" cy="73152"/>
          </a:xfrm>
          <a:prstGeom prst="line">
            <a:avLst/>
          </a:prstGeom>
          <a:noFill/>
          <a:ln w="25400">
            <a:solidFill>
              <a:srgbClr val="20B2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64208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0B2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719072"/>
            <a:ext cx="301752" cy="301752"/>
          </a:xfrm>
          <a:prstGeom prst="ellipse">
            <a:avLst/>
          </a:prstGeom>
          <a:solidFill>
            <a:srgbClr val="20B2AA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71907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6642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gera login e senha temporarios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157984"/>
            <a:ext cx="0" cy="73152"/>
          </a:xfrm>
          <a:prstGeom prst="line">
            <a:avLst/>
          </a:prstGeom>
          <a:noFill/>
          <a:ln w="25400">
            <a:solidFill>
              <a:srgbClr val="20B2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31136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0B2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2286000"/>
            <a:ext cx="301752" cy="301752"/>
          </a:xfrm>
          <a:prstGeom prst="ellipse">
            <a:avLst/>
          </a:prstGeom>
          <a:solidFill>
            <a:srgbClr val="20B2AA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2860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2311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email de boas-vindas com credenciais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724912"/>
            <a:ext cx="0" cy="73152"/>
          </a:xfrm>
          <a:prstGeom prst="line">
            <a:avLst/>
          </a:prstGeom>
          <a:noFill/>
          <a:ln w="25400">
            <a:solidFill>
              <a:srgbClr val="20B2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98064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0B2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2852928"/>
            <a:ext cx="301752" cy="301752"/>
          </a:xfrm>
          <a:prstGeom prst="ellipse">
            <a:avLst/>
          </a:prstGeom>
          <a:solidFill>
            <a:srgbClr val="20B2AA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28529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79806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instrucoes de pagamento (3 parcelas)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291840"/>
            <a:ext cx="0" cy="73152"/>
          </a:xfrm>
          <a:prstGeom prst="line">
            <a:avLst/>
          </a:prstGeom>
          <a:noFill/>
          <a:ln w="25400">
            <a:solidFill>
              <a:srgbClr val="20B2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0B2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3419856"/>
            <a:ext cx="301752" cy="301752"/>
          </a:xfrm>
          <a:prstGeom prst="ellipse">
            <a:avLst/>
          </a:prstGeom>
          <a:solidFill>
            <a:srgbClr val="20B2AA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41985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3649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acessa plataforma e cadastra setores e colaboradores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353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com acesso + pagamento iniciado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22860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3042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TRANSICAO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aprova a pre-proposta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337560"/>
            <a:ext cx="3200400" cy="1316736"/>
          </a:xfrm>
          <a:prstGeom prst="roundRect">
            <a:avLst>
              <a:gd name="adj" fmla="val 694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3558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COMUNICACOES POR EMAIL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611880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361188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 →  Plataforma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60720" y="377647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botao 'Aprovar Proposta' (link no email)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760720" y="3959352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42" name="Text 40"/>
          <p:cNvSpPr/>
          <p:nvPr/>
        </p:nvSpPr>
        <p:spPr>
          <a:xfrm>
            <a:off x="5760720" y="39593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 →  Empresa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60720" y="4123944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de boas-vindas com login, senha e passo-a-passo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60720" y="4306824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430682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 →  Empresa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760720" y="4471416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Instrucoes de pagamento: PIX/boleto, 3 parcelas (40%+30%+30%)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6928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Proxima fase: AVALIACAO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— AVALIACAO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Aplicacao COPSOQ-II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52144"/>
            <a:ext cx="301752" cy="30175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cadastra colaboradores (manual ou CSV)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591056"/>
            <a:ext cx="0" cy="73152"/>
          </a:xfrm>
          <a:prstGeom prst="line">
            <a:avLst/>
          </a:prstGeom>
          <a:noFill/>
          <a:ln w="25400">
            <a:solidFill>
              <a:srgbClr val="FF8C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64208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719072"/>
            <a:ext cx="301752" cy="30175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71907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6642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avaliacao COPSOQ-II (76 questoes, 12 dimensoes)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157984"/>
            <a:ext cx="0" cy="73152"/>
          </a:xfrm>
          <a:prstGeom prst="line">
            <a:avLst/>
          </a:prstGeom>
          <a:noFill/>
          <a:ln w="25400">
            <a:solidFill>
              <a:srgbClr val="FF8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31136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2286000"/>
            <a:ext cx="301752" cy="30175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2860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2311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convites por email a todos os colaboradores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724912"/>
            <a:ext cx="0" cy="73152"/>
          </a:xfrm>
          <a:prstGeom prst="line">
            <a:avLst/>
          </a:prstGeom>
          <a:noFill/>
          <a:ln w="25400">
            <a:solidFill>
              <a:srgbClr val="FF8C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98064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2852928"/>
            <a:ext cx="301752" cy="30175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28529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79806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Lembretes automaticos: 2, 5 e 9 dias apos envio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291840"/>
            <a:ext cx="0" cy="73152"/>
          </a:xfrm>
          <a:prstGeom prst="line">
            <a:avLst/>
          </a:prstGeom>
          <a:noFill/>
          <a:ln w="25400">
            <a:solidFill>
              <a:srgbClr val="FF8C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3419856"/>
            <a:ext cx="301752" cy="30175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41985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3649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70% de respostas para prosseguir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353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COPSOQ-II coletadas (&gt;= 70%)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22860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3042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TRANSICAO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cadastrou colaboradores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337560"/>
            <a:ext cx="3200400" cy="1664208"/>
          </a:xfrm>
          <a:prstGeom prst="roundRect">
            <a:avLst>
              <a:gd name="adj" fmla="val 5495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3558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COMUNICACOES POR EMAIL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611880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361188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 →  Colaboradores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60720" y="377647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Convite COPSOQ-II: link anonimo, 15-20 min, confidencial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760720" y="3959352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42" name="Text 40"/>
          <p:cNvSpPr/>
          <p:nvPr/>
        </p:nvSpPr>
        <p:spPr>
          <a:xfrm>
            <a:off x="5760720" y="39593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 →  Colaboradores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60720" y="4123944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Lembrete 1 (2 dias), Lembrete 2 (5 dias), Lembrete 3 (9 dias)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60720" y="4306824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430682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 →  Colaboradores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760720" y="4471416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Confirmacao de resposta recebida (apos completar)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760720" y="4654296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48" name="Text 46"/>
          <p:cNvSpPr/>
          <p:nvPr/>
        </p:nvSpPr>
        <p:spPr>
          <a:xfrm>
            <a:off x="5760720" y="465429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 →  Consultoria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760720" y="4818888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Alerta: cota de convites atingindo 80% do plano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6928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Proxima fase: ANALISE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 — ANALISE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por IA e Devolutiva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C14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52144"/>
            <a:ext cx="301752" cy="301752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(Gemini 2.5 Flash) processa todas as respostas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591056"/>
            <a:ext cx="0" cy="73152"/>
          </a:xfrm>
          <a:prstGeom prst="line">
            <a:avLst/>
          </a:prstGeom>
          <a:noFill/>
          <a:ln w="25400">
            <a:solidFill>
              <a:srgbClr val="DC14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64208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C14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719072"/>
            <a:ext cx="301752" cy="301752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71907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6642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scores das 12 dimensoes psicossociais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157984"/>
            <a:ext cx="0" cy="73152"/>
          </a:xfrm>
          <a:prstGeom prst="line">
            <a:avLst/>
          </a:prstGeom>
          <a:noFill/>
          <a:ln w="25400">
            <a:solidFill>
              <a:srgbClr val="DC14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31136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C14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2286000"/>
            <a:ext cx="301752" cy="301752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2860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2311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dimensoes criticas (score &gt;= 70)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724912"/>
            <a:ext cx="0" cy="73152"/>
          </a:xfrm>
          <a:prstGeom prst="line">
            <a:avLst/>
          </a:prstGeom>
          <a:noFill/>
          <a:ln w="25400">
            <a:solidFill>
              <a:srgbClr val="DC14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98064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C14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2852928"/>
            <a:ext cx="301752" cy="301752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28529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79806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relatorio com recomendacoes priorizadas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291840"/>
            <a:ext cx="0" cy="73152"/>
          </a:xfrm>
          <a:prstGeom prst="line">
            <a:avLst/>
          </a:prstGeom>
          <a:noFill/>
          <a:ln w="25400">
            <a:solidFill>
              <a:srgbClr val="DC14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C14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3419856"/>
            <a:ext cx="301752" cy="301752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41985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3649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devolutiva agregada p/ empresa e colaboradores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353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Relatorio COPSOQ-II + devolutiva enviada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22860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3042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TRANSICAO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&gt;= 70% de respostas recebidas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337560"/>
            <a:ext cx="3200400" cy="969264"/>
          </a:xfrm>
          <a:prstGeom prst="roundRect">
            <a:avLst>
              <a:gd name="adj" fmla="val 943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3558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COMUNICACOES POR EMAIL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611880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361188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 →  Empresa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60720" y="377647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Devolutiva com resultados agregados, dimensoes criticas e pontos fortes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760720" y="3959352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42" name="Text 40"/>
          <p:cNvSpPr/>
          <p:nvPr/>
        </p:nvSpPr>
        <p:spPr>
          <a:xfrm>
            <a:off x="5760720" y="39593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 →  Colaboradores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60720" y="4123944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Devolutiva coletiva (anonima) com panorama geral e acoes planejadas (NR-01/LGPD)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6928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Proxima fase: INVENTARIO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6 — INVENTARIO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Riscos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52144"/>
            <a:ext cx="301752" cy="30175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inventario conforme NR-01 par.1.5.7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682496"/>
            <a:ext cx="0" cy="73152"/>
          </a:xfrm>
          <a:prstGeom prst="line">
            <a:avLst/>
          </a:prstGeom>
          <a:noFill/>
          <a:ln w="25400">
            <a:solidFill>
              <a:srgbClr val="8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55648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810512"/>
            <a:ext cx="301752" cy="30175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81051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75564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 perigos nos 13 tipos MTE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340864"/>
            <a:ext cx="0" cy="73152"/>
          </a:xfrm>
          <a:prstGeom prst="line">
            <a:avLst/>
          </a:prstGeom>
          <a:noFill/>
          <a:ln w="25400">
            <a:solidFill>
              <a:srgbClr val="8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14016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2468880"/>
            <a:ext cx="301752" cy="30175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46888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41401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severidade (1-5) e probabilidade (1-5)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999232"/>
            <a:ext cx="0" cy="73152"/>
          </a:xfrm>
          <a:prstGeom prst="line">
            <a:avLst/>
          </a:prstGeom>
          <a:noFill/>
          <a:ln w="25400">
            <a:solidFill>
              <a:srgbClr val="8B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72384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3127248"/>
            <a:ext cx="301752" cy="30175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12724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07238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nivel de risco (matriz 5x5 GRO)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657600"/>
            <a:ext cx="0" cy="73152"/>
          </a:xfrm>
          <a:prstGeom prst="line">
            <a:avLst/>
          </a:prstGeom>
          <a:noFill/>
          <a:ln w="25400">
            <a:solidFill>
              <a:srgbClr val="8B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30752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3785616"/>
            <a:ext cx="301752" cy="30175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7856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73075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controles existentes e recomendados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353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riscos com classificacao GRO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22860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3042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TRANSICAO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COPSOQ concluida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Proxima fase: PLANO DE ACAO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7 — PLANO DE ACAO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Preventivas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28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52144"/>
            <a:ext cx="301752" cy="301752"/>
          </a:xfrm>
          <a:prstGeom prst="ellipse">
            <a:avLst/>
          </a:prstGeom>
          <a:solidFill>
            <a:srgbClr val="228B22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acoes para cada risco identificado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682496"/>
            <a:ext cx="0" cy="73152"/>
          </a:xfrm>
          <a:prstGeom prst="line">
            <a:avLst/>
          </a:prstGeom>
          <a:noFill/>
          <a:ln w="25400">
            <a:solidFill>
              <a:srgbClr val="228B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55648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28B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810512"/>
            <a:ext cx="301752" cy="301752"/>
          </a:xfrm>
          <a:prstGeom prst="ellipse">
            <a:avLst/>
          </a:prstGeom>
          <a:solidFill>
            <a:srgbClr val="228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81051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75564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hierarquia de controles (5 niveis):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414016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41401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Eliminacao &gt; Substituicao &gt; Engenharia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072384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7238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Administrativo &gt; EPI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3657600"/>
            <a:ext cx="0" cy="73152"/>
          </a:xfrm>
          <a:prstGeom prst="line">
            <a:avLst/>
          </a:prstGeom>
          <a:noFill/>
          <a:ln w="25400">
            <a:solidFill>
              <a:srgbClr val="228B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30752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28B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" y="3785616"/>
            <a:ext cx="301752" cy="301752"/>
          </a:xfrm>
          <a:prstGeom prst="ellipse">
            <a:avLst/>
          </a:prstGeom>
          <a:solidFill>
            <a:srgbClr val="228B22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37856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73075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responsavel, prazo, KPI e prioridade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1353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acao + Documento GRO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22860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3042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TRANSICAO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06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riscos completo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Proxima fase: TREINAMENTO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8 — TREINAMENTO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Capacitacao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52144"/>
            <a:ext cx="301752" cy="301752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programas de treinamento por risco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682496"/>
            <a:ext cx="0" cy="73152"/>
          </a:xfrm>
          <a:prstGeom prst="line">
            <a:avLst/>
          </a:prstGeom>
          <a:noFill/>
          <a:ln w="25400">
            <a:solidFill>
              <a:srgbClr val="9370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55648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810512"/>
            <a:ext cx="301752" cy="301752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81051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75564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Modulos: Lideranca, CIPA, Assedio, Saude Mental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340864"/>
            <a:ext cx="0" cy="73152"/>
          </a:xfrm>
          <a:prstGeom prst="line">
            <a:avLst/>
          </a:prstGeom>
          <a:noFill/>
          <a:ln w="25400">
            <a:solidFill>
              <a:srgbClr val="9370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14016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2468880"/>
            <a:ext cx="301752" cy="301752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46888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41401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carga horaria e publico-alvo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999232"/>
            <a:ext cx="0" cy="73152"/>
          </a:xfrm>
          <a:prstGeom prst="line">
            <a:avLst/>
          </a:prstGeom>
          <a:noFill/>
          <a:ln w="25400">
            <a:solidFill>
              <a:srgbClr val="9370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72384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3127248"/>
            <a:ext cx="301752" cy="301752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12724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07238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material didatico e cronograma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657600"/>
            <a:ext cx="0" cy="73152"/>
          </a:xfrm>
          <a:prstGeom prst="line">
            <a:avLst/>
          </a:prstGeom>
          <a:noFill/>
          <a:ln w="25400">
            <a:solidFill>
              <a:srgbClr val="9370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30752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3785616"/>
            <a:ext cx="301752" cy="301752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7856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73075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participacao e avaliacao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353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de treinamento criados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22860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3042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TRANSICAO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acao completo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Proxima fase: DOCUMENTACAO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9 — DOCUMENTACAO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Final e Documentos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169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52144"/>
            <a:ext cx="301752" cy="301752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PGR, PCMSO, Laudo Tecnico, eSocial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591056"/>
            <a:ext cx="0" cy="73152"/>
          </a:xfrm>
          <a:prstGeom prst="line">
            <a:avLst/>
          </a:prstGeom>
          <a:noFill/>
          <a:ln w="25400">
            <a:solidFill>
              <a:srgbClr val="4169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64208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169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719072"/>
            <a:ext cx="301752" cy="301752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71907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6642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proposta final detalhada com todos os entregaveis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157984"/>
            <a:ext cx="0" cy="73152"/>
          </a:xfrm>
          <a:prstGeom prst="line">
            <a:avLst/>
          </a:prstGeom>
          <a:noFill/>
          <a:ln w="25400">
            <a:solidFill>
              <a:srgbClr val="4169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31136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169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2286000"/>
            <a:ext cx="301752" cy="301752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2860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2311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proposta final para aprovacao da empresa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724912"/>
            <a:ext cx="0" cy="73152"/>
          </a:xfrm>
          <a:prstGeom prst="line">
            <a:avLst/>
          </a:prstGeom>
          <a:noFill/>
          <a:ln w="25400">
            <a:solidFill>
              <a:srgbClr val="4169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98064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169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2852928"/>
            <a:ext cx="301752" cy="301752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28529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79806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aprova e libera acesso aos PDFs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291840"/>
            <a:ext cx="0" cy="73152"/>
          </a:xfrm>
          <a:prstGeom prst="line">
            <a:avLst/>
          </a:prstGeom>
          <a:noFill/>
          <a:ln w="25400">
            <a:solidFill>
              <a:srgbClr val="4169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169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3419856"/>
            <a:ext cx="301752" cy="301752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41985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3649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PDFs assinados digitalmente (ICP-Brasil)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353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documentos PDF assinados e entregues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22860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3042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TRANSICAO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Treinamentos e milestones concluidos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337560"/>
            <a:ext cx="3200400" cy="1316736"/>
          </a:xfrm>
          <a:prstGeom prst="roundRect">
            <a:avLst>
              <a:gd name="adj" fmla="val 6944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3558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COMUNICACOES POR EMAIL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611880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361188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 →  Empresa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60720" y="377647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final com documentos NR-01 e botoes Aprovar / Rejeitar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760720" y="3959352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42" name="Text 40"/>
          <p:cNvSpPr/>
          <p:nvPr/>
        </p:nvSpPr>
        <p:spPr>
          <a:xfrm>
            <a:off x="5760720" y="39593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 →  Plataforma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60720" y="4123944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botao 'Aprovar' (libera download dos PDFs)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60720" y="4306824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430682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 →  Colaboradores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760720" y="4471416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Devolutiva: resumo dos resultados da avaliacao psicossocial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6928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Proxima fase: CERTIFICACAO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10 — CERTIFICACAO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NR-01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AA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52144"/>
            <a:ext cx="301752" cy="301752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1521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score de conformidade no checklist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591056"/>
            <a:ext cx="0" cy="73152"/>
          </a:xfrm>
          <a:prstGeom prst="line">
            <a:avLst/>
          </a:prstGeom>
          <a:noFill/>
          <a:ln w="25400">
            <a:solidFill>
              <a:srgbClr val="DAA5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64208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AA5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719072"/>
            <a:ext cx="301752" cy="301752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71907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6642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minimo de 80% de conformidade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157984"/>
            <a:ext cx="0" cy="73152"/>
          </a:xfrm>
          <a:prstGeom prst="line">
            <a:avLst/>
          </a:prstGeom>
          <a:noFill/>
          <a:ln w="25400">
            <a:solidFill>
              <a:srgbClr val="DAA5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31136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AA5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2286000"/>
            <a:ext cx="301752" cy="301752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2860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2311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que todas as fases anteriores estao 100%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724912"/>
            <a:ext cx="0" cy="73152"/>
          </a:xfrm>
          <a:prstGeom prst="line">
            <a:avLst/>
          </a:prstGeom>
          <a:noFill/>
          <a:ln w="25400">
            <a:solidFill>
              <a:srgbClr val="DAA5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98064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AA5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2852928"/>
            <a:ext cx="301752" cy="301752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28529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79806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Emite certificado digital de conformidade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291840"/>
            <a:ext cx="0" cy="73152"/>
          </a:xfrm>
          <a:prstGeom prst="line">
            <a:avLst/>
          </a:prstGeom>
          <a:noFill/>
          <a:ln w="25400">
            <a:solidFill>
              <a:srgbClr val="DAA5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49377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AA5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3419856"/>
            <a:ext cx="301752" cy="301752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41985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3649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assinado com ICP-Brasil A1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353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de Conformidade NR-01 emitido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22860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3042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DE TRANSICAO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&gt;= 80% + todas as fases completas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337560"/>
            <a:ext cx="3200400" cy="621792"/>
          </a:xfrm>
          <a:prstGeom prst="roundRect">
            <a:avLst>
              <a:gd name="adj" fmla="val 14706"/>
            </a:avLst>
          </a:prstGeom>
          <a:solidFill>
            <a:srgbClr val="E1F5FE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3558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COMUNICACOES POR EMAIL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611880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361188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 →  Empresa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60720" y="377647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de Conformidade NR-01 emitido (PDF assinado)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Processo NR-01 concluido!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 Fluxo SamurAI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fases sequenciais com auto-transicao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COPSOQ-II (76 questoes, 12 dimensoes)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Classificacao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tipos de perigo MTE + Matriz GRO 5x5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de 5 niveis (Eliminacao a EPI)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PDFs com assinatura digital ICP-Brasil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+ fallback deterministico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Integracao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eSocial (S-2210/S-2220/S-2240), PGR, PCMSO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Certificacao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NR-01 com score &gt;= 80%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legal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26/05/2026 (Portaria MTE n. 1.419/2024)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Belt Platform v2.0 — blackbeltconsultoria.com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SamurAI — Fluxograma NR-01</dc:title>
  <dc:subject>Fluxo completo das 10 fases do agente SamurAI</dc:subject>
  <dc:creator>Black Belt Platform</dc:creator>
  <cp:lastModifiedBy>Black Belt Platform</cp:lastModifiedBy>
  <cp:revision>1</cp:revision>
  <dcterms:created xsi:type="dcterms:W3CDTF">2026-04-05T19:19:57Z</dcterms:created>
  <dcterms:modified xsi:type="dcterms:W3CDTF">2026-04-05T19:19:57Z</dcterms:modified>
</cp:coreProperties>
</file>
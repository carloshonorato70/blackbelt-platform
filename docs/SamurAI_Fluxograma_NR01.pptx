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C8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SamurAI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Fluxograma Completo — 10 Fases NR-01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Portaria MTE n. 1.419/2024 — Riscos Psicossociais Ocupacionais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Black Belt Platform v2.0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82880"/>
            <a:ext cx="8595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Visao Geral das 10 Fases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777240" y="960120"/>
            <a:ext cx="457200" cy="457200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960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82880" y="1463040"/>
            <a:ext cx="16459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25400">
            <a:solidFill>
              <a:srgbClr val="4A90D9"/>
            </a:solidFill>
            <a:prstDash val="solid"/>
          </a:ln>
          <a:effectLst>
            <a:outerShdw sx="100000" sy="100000" kx="0" ky="0" algn="bl" rotWithShape="0" blurRad="38100" dist="25400" dir="16200000">
              <a:srgbClr val="CCCCCC">
                <a:alpha val="7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82880" y="150876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9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ONBOARDING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82880" y="17830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Cadastro da Empresa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228600" y="2057400"/>
            <a:ext cx="15544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Empresa cadastrada com perfil completo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1783080" y="1874520"/>
            <a:ext cx="228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A9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2532888" y="960120"/>
            <a:ext cx="457200" cy="457200"/>
          </a:xfrm>
          <a:prstGeom prst="ellipse">
            <a:avLst/>
          </a:prstGeom>
          <a:solidFill>
            <a:srgbClr val="7B68EE"/>
          </a:solidFill>
          <a:ln/>
        </p:spPr>
      </p:sp>
      <p:sp>
        <p:nvSpPr>
          <p:cNvPr id="11" name="Text 9"/>
          <p:cNvSpPr/>
          <p:nvPr/>
        </p:nvSpPr>
        <p:spPr>
          <a:xfrm>
            <a:off x="2532888" y="960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938528" y="1463040"/>
            <a:ext cx="16459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25400">
            <a:solidFill>
              <a:srgbClr val="7B68EE"/>
            </a:solidFill>
            <a:prstDash val="solid"/>
          </a:ln>
          <a:effectLst>
            <a:outerShdw sx="100000" sy="100000" kx="0" ky="0" algn="bl" rotWithShape="0" blurRad="38100" dist="25400" dir="16200000">
              <a:srgbClr val="CCCCCC">
                <a:alpha val="7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1938528" y="150876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B6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DIAGNOSTICO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938528" y="17830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Diagnostico e Pre-Proposta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984248" y="205740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Pre-proposta enviada a empresa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2121408" y="2487168"/>
            <a:ext cx="1280160" cy="228600"/>
          </a:xfrm>
          <a:prstGeom prst="roundRect">
            <a:avLst>
              <a:gd name="adj" fmla="val 20000"/>
            </a:avLst>
          </a:prstGeom>
          <a:solidFill>
            <a:srgbClr val="E1F5FE"/>
          </a:solidFill>
          <a:ln w="12700">
            <a:solidFill>
              <a:srgbClr val="0277B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121408" y="2487168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27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✉ 1 email(s)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3538728" y="1874520"/>
            <a:ext cx="228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B6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4288536" y="960120"/>
            <a:ext cx="457200" cy="457200"/>
          </a:xfrm>
          <a:prstGeom prst="ellipse">
            <a:avLst/>
          </a:prstGeom>
          <a:solidFill>
            <a:srgbClr val="20B2AA"/>
          </a:solidFill>
          <a:ln/>
        </p:spPr>
      </p:sp>
      <p:sp>
        <p:nvSpPr>
          <p:cNvPr id="20" name="Text 18"/>
          <p:cNvSpPr/>
          <p:nvPr/>
        </p:nvSpPr>
        <p:spPr>
          <a:xfrm>
            <a:off x="4288536" y="960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3694176" y="1463040"/>
            <a:ext cx="16459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25400">
            <a:solidFill>
              <a:srgbClr val="20B2AA"/>
            </a:solidFill>
            <a:prstDash val="solid"/>
          </a:ln>
          <a:effectLst>
            <a:outerShdw sx="100000" sy="100000" kx="0" ky="0" algn="bl" rotWithShape="0" blurRad="38100" dist="25400" dir="16200000">
              <a:srgbClr val="CCCCCC">
                <a:alpha val="7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3694176" y="150876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0B2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CONTRATACAO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694176" y="17830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Aprovacao e Acesso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3739896" y="205740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Empresa com acesso + pagamento iniciado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3877056" y="2487168"/>
            <a:ext cx="1280160" cy="228600"/>
          </a:xfrm>
          <a:prstGeom prst="roundRect">
            <a:avLst>
              <a:gd name="adj" fmla="val 20000"/>
            </a:avLst>
          </a:prstGeom>
          <a:solidFill>
            <a:srgbClr val="E1F5FE"/>
          </a:solidFill>
          <a:ln w="12700">
            <a:solidFill>
              <a:srgbClr val="0277B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77056" y="2487168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27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✉ 3 email(s)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5294376" y="1874520"/>
            <a:ext cx="228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0B2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6044184" y="960120"/>
            <a:ext cx="457200" cy="457200"/>
          </a:xfrm>
          <a:prstGeom prst="ellipse">
            <a:avLst/>
          </a:prstGeom>
          <a:solidFill>
            <a:srgbClr val="FF8C00"/>
          </a:solidFill>
          <a:ln/>
        </p:spPr>
      </p:sp>
      <p:sp>
        <p:nvSpPr>
          <p:cNvPr id="29" name="Text 27"/>
          <p:cNvSpPr/>
          <p:nvPr/>
        </p:nvSpPr>
        <p:spPr>
          <a:xfrm>
            <a:off x="6044184" y="960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5449824" y="1463040"/>
            <a:ext cx="16459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25400">
            <a:solidFill>
              <a:srgbClr val="FF8C00"/>
            </a:solidFill>
            <a:prstDash val="solid"/>
          </a:ln>
          <a:effectLst>
            <a:outerShdw sx="100000" sy="100000" kx="0" ky="0" algn="bl" rotWithShape="0" blurRad="38100" dist="25400" dir="16200000">
              <a:srgbClr val="CCCCCC">
                <a:alpha val="7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5449824" y="150876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8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AVALIACAO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449824" y="17830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Aplicacao COPSOQ-II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5495544" y="205740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Respostas COPSOQ-II coletadas (&gt;= 70%)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5632704" y="2487168"/>
            <a:ext cx="1280160" cy="228600"/>
          </a:xfrm>
          <a:prstGeom prst="roundRect">
            <a:avLst>
              <a:gd name="adj" fmla="val 20000"/>
            </a:avLst>
          </a:prstGeom>
          <a:solidFill>
            <a:srgbClr val="E1F5FE"/>
          </a:solidFill>
          <a:ln w="12700">
            <a:solidFill>
              <a:srgbClr val="0277B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632704" y="2487168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27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✉ 4 email(s)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7050024" y="1874520"/>
            <a:ext cx="228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8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37" name="Shape 35"/>
          <p:cNvSpPr/>
          <p:nvPr/>
        </p:nvSpPr>
        <p:spPr>
          <a:xfrm>
            <a:off x="7799832" y="960120"/>
            <a:ext cx="457200" cy="457200"/>
          </a:xfrm>
          <a:prstGeom prst="ellipse">
            <a:avLst/>
          </a:prstGeom>
          <a:solidFill>
            <a:srgbClr val="DC143C"/>
          </a:solidFill>
          <a:ln/>
        </p:spPr>
      </p:sp>
      <p:sp>
        <p:nvSpPr>
          <p:cNvPr id="38" name="Text 36"/>
          <p:cNvSpPr/>
          <p:nvPr/>
        </p:nvSpPr>
        <p:spPr>
          <a:xfrm>
            <a:off x="7799832" y="960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7205472" y="1463040"/>
            <a:ext cx="16459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25400">
            <a:solidFill>
              <a:srgbClr val="DC143C"/>
            </a:solidFill>
            <a:prstDash val="solid"/>
          </a:ln>
          <a:effectLst>
            <a:outerShdw sx="100000" sy="100000" kx="0" ky="0" algn="bl" rotWithShape="0" blurRad="38100" dist="25400" dir="16200000">
              <a:srgbClr val="CCCCCC">
                <a:alpha val="75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7205472" y="150876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C14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ANALISE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7205472" y="17830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Analise por IA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7251192" y="2057400"/>
            <a:ext cx="15544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Relatorio COPSOQ-II com analise dimensional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777240" y="3063240"/>
            <a:ext cx="457200" cy="457200"/>
          </a:xfrm>
          <a:prstGeom prst="ellipse">
            <a:avLst/>
          </a:prstGeom>
          <a:solidFill>
            <a:srgbClr val="8B0000"/>
          </a:solidFill>
          <a:ln/>
        </p:spPr>
      </p:sp>
      <p:sp>
        <p:nvSpPr>
          <p:cNvPr id="44" name="Text 42"/>
          <p:cNvSpPr/>
          <p:nvPr/>
        </p:nvSpPr>
        <p:spPr>
          <a:xfrm>
            <a:off x="777240" y="30632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182880" y="3566160"/>
            <a:ext cx="16459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25400">
            <a:solidFill>
              <a:srgbClr val="8B0000"/>
            </a:solidFill>
            <a:prstDash val="solid"/>
          </a:ln>
          <a:effectLst>
            <a:outerShdw sx="100000" sy="100000" kx="0" ky="0" algn="bl" rotWithShape="0" blurRad="38100" dist="25400" dir="16200000">
              <a:srgbClr val="CCCCCC">
                <a:alpha val="75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182880" y="361188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B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INVENTARIO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182880" y="388620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Inventario de Riscos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228600" y="4160520"/>
            <a:ext cx="15544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Inventario de riscos com classificacao GRO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1783080" y="3977640"/>
            <a:ext cx="228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B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50" name="Shape 48"/>
          <p:cNvSpPr/>
          <p:nvPr/>
        </p:nvSpPr>
        <p:spPr>
          <a:xfrm>
            <a:off x="2532888" y="3063240"/>
            <a:ext cx="457200" cy="457200"/>
          </a:xfrm>
          <a:prstGeom prst="ellipse">
            <a:avLst/>
          </a:prstGeom>
          <a:solidFill>
            <a:srgbClr val="228B22"/>
          </a:solidFill>
          <a:ln/>
        </p:spPr>
      </p:sp>
      <p:sp>
        <p:nvSpPr>
          <p:cNvPr id="51" name="Text 49"/>
          <p:cNvSpPr/>
          <p:nvPr/>
        </p:nvSpPr>
        <p:spPr>
          <a:xfrm>
            <a:off x="2532888" y="30632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600" dirty="0"/>
          </a:p>
        </p:txBody>
      </p:sp>
      <p:sp>
        <p:nvSpPr>
          <p:cNvPr id="52" name="Shape 50"/>
          <p:cNvSpPr/>
          <p:nvPr/>
        </p:nvSpPr>
        <p:spPr>
          <a:xfrm>
            <a:off x="1938528" y="3566160"/>
            <a:ext cx="16459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25400">
            <a:solidFill>
              <a:srgbClr val="228B22"/>
            </a:solidFill>
            <a:prstDash val="solid"/>
          </a:ln>
          <a:effectLst>
            <a:outerShdw sx="100000" sy="100000" kx="0" ky="0" algn="bl" rotWithShape="0" blurRad="38100" dist="25400" dir="16200000">
              <a:srgbClr val="CCCCCC">
                <a:alpha val="75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1938528" y="361188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28B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PLANO DE ACAO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1938528" y="388620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Medidas Preventivas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1984248" y="4160520"/>
            <a:ext cx="15544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Plano de acao + Documento GRO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3538728" y="3977640"/>
            <a:ext cx="228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28B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57" name="Shape 55"/>
          <p:cNvSpPr/>
          <p:nvPr/>
        </p:nvSpPr>
        <p:spPr>
          <a:xfrm>
            <a:off x="4288536" y="3063240"/>
            <a:ext cx="457200" cy="457200"/>
          </a:xfrm>
          <a:prstGeom prst="ellipse">
            <a:avLst/>
          </a:prstGeom>
          <a:solidFill>
            <a:srgbClr val="9370DB"/>
          </a:solidFill>
          <a:ln/>
        </p:spPr>
      </p:sp>
      <p:sp>
        <p:nvSpPr>
          <p:cNvPr id="58" name="Text 56"/>
          <p:cNvSpPr/>
          <p:nvPr/>
        </p:nvSpPr>
        <p:spPr>
          <a:xfrm>
            <a:off x="4288536" y="30632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600" dirty="0"/>
          </a:p>
        </p:txBody>
      </p:sp>
      <p:sp>
        <p:nvSpPr>
          <p:cNvPr id="59" name="Shape 57"/>
          <p:cNvSpPr/>
          <p:nvPr/>
        </p:nvSpPr>
        <p:spPr>
          <a:xfrm>
            <a:off x="3694176" y="3566160"/>
            <a:ext cx="16459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25400">
            <a:solidFill>
              <a:srgbClr val="9370DB"/>
            </a:solidFill>
            <a:prstDash val="solid"/>
          </a:ln>
          <a:effectLst>
            <a:outerShdw sx="100000" sy="100000" kx="0" ky="0" algn="bl" rotWithShape="0" blurRad="38100" dist="25400" dir="16200000">
              <a:srgbClr val="CCCCCC">
                <a:alpha val="75000"/>
              </a:srgbClr>
            </a:outerShdw>
          </a:effectLst>
        </p:spPr>
      </p:sp>
      <p:sp>
        <p:nvSpPr>
          <p:cNvPr id="60" name="Text 58"/>
          <p:cNvSpPr/>
          <p:nvPr/>
        </p:nvSpPr>
        <p:spPr>
          <a:xfrm>
            <a:off x="3694176" y="361188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370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TREINAMENTO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3694176" y="388620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Capacitacao</a:t>
            </a:r>
            <a:endParaRPr lang="en-US" sz="800" dirty="0"/>
          </a:p>
        </p:txBody>
      </p:sp>
      <p:sp>
        <p:nvSpPr>
          <p:cNvPr id="62" name="Text 60"/>
          <p:cNvSpPr/>
          <p:nvPr/>
        </p:nvSpPr>
        <p:spPr>
          <a:xfrm>
            <a:off x="3739896" y="4160520"/>
            <a:ext cx="15544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Programas de treinamento criados</a:t>
            </a:r>
            <a:endParaRPr lang="en-US" sz="700" dirty="0"/>
          </a:p>
        </p:txBody>
      </p:sp>
      <p:sp>
        <p:nvSpPr>
          <p:cNvPr id="63" name="Text 61"/>
          <p:cNvSpPr/>
          <p:nvPr/>
        </p:nvSpPr>
        <p:spPr>
          <a:xfrm>
            <a:off x="5294376" y="3977640"/>
            <a:ext cx="228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370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64" name="Shape 62"/>
          <p:cNvSpPr/>
          <p:nvPr/>
        </p:nvSpPr>
        <p:spPr>
          <a:xfrm>
            <a:off x="6044184" y="3063240"/>
            <a:ext cx="457200" cy="457200"/>
          </a:xfrm>
          <a:prstGeom prst="ellipse">
            <a:avLst/>
          </a:prstGeom>
          <a:solidFill>
            <a:srgbClr val="4169E1"/>
          </a:solidFill>
          <a:ln/>
        </p:spPr>
      </p:sp>
      <p:sp>
        <p:nvSpPr>
          <p:cNvPr id="65" name="Text 63"/>
          <p:cNvSpPr/>
          <p:nvPr/>
        </p:nvSpPr>
        <p:spPr>
          <a:xfrm>
            <a:off x="6044184" y="30632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600" dirty="0"/>
          </a:p>
        </p:txBody>
      </p:sp>
      <p:sp>
        <p:nvSpPr>
          <p:cNvPr id="66" name="Shape 64"/>
          <p:cNvSpPr/>
          <p:nvPr/>
        </p:nvSpPr>
        <p:spPr>
          <a:xfrm>
            <a:off x="5449824" y="3566160"/>
            <a:ext cx="16459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25400">
            <a:solidFill>
              <a:srgbClr val="4169E1"/>
            </a:solidFill>
            <a:prstDash val="solid"/>
          </a:ln>
          <a:effectLst>
            <a:outerShdw sx="100000" sy="100000" kx="0" ky="0" algn="bl" rotWithShape="0" blurRad="38100" dist="25400" dir="16200000">
              <a:srgbClr val="CCCCCC">
                <a:alpha val="75000"/>
              </a:srgbClr>
            </a:outerShdw>
          </a:effectLst>
        </p:spPr>
      </p:sp>
      <p:sp>
        <p:nvSpPr>
          <p:cNvPr id="67" name="Text 65"/>
          <p:cNvSpPr/>
          <p:nvPr/>
        </p:nvSpPr>
        <p:spPr>
          <a:xfrm>
            <a:off x="5449824" y="361188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169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DOCUMENTACAO</a:t>
            </a:r>
            <a:endParaRPr lang="en-US" sz="900" dirty="0"/>
          </a:p>
        </p:txBody>
      </p:sp>
      <p:sp>
        <p:nvSpPr>
          <p:cNvPr id="68" name="Text 66"/>
          <p:cNvSpPr/>
          <p:nvPr/>
        </p:nvSpPr>
        <p:spPr>
          <a:xfrm>
            <a:off x="5449824" y="388620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Proposta Final e Documentos</a:t>
            </a:r>
            <a:endParaRPr lang="en-US" sz="800" dirty="0"/>
          </a:p>
        </p:txBody>
      </p:sp>
      <p:sp>
        <p:nvSpPr>
          <p:cNvPr id="69" name="Text 67"/>
          <p:cNvSpPr/>
          <p:nvPr/>
        </p:nvSpPr>
        <p:spPr>
          <a:xfrm>
            <a:off x="5495544" y="416052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20+ documentos PDF assinados e entregues</a:t>
            </a:r>
            <a:endParaRPr lang="en-US" sz="700" dirty="0"/>
          </a:p>
        </p:txBody>
      </p:sp>
      <p:sp>
        <p:nvSpPr>
          <p:cNvPr id="70" name="Shape 68"/>
          <p:cNvSpPr/>
          <p:nvPr/>
        </p:nvSpPr>
        <p:spPr>
          <a:xfrm>
            <a:off x="5632704" y="4590288"/>
            <a:ext cx="1280160" cy="228600"/>
          </a:xfrm>
          <a:prstGeom prst="roundRect">
            <a:avLst>
              <a:gd name="adj" fmla="val 20000"/>
            </a:avLst>
          </a:prstGeom>
          <a:solidFill>
            <a:srgbClr val="E1F5FE"/>
          </a:solidFill>
          <a:ln w="12700">
            <a:solidFill>
              <a:srgbClr val="0277BD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632704" y="4590288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27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✉ 3 email(s)</a:t>
            </a:r>
            <a:endParaRPr lang="en-US" sz="700" dirty="0"/>
          </a:p>
        </p:txBody>
      </p:sp>
      <p:sp>
        <p:nvSpPr>
          <p:cNvPr id="72" name="Text 70"/>
          <p:cNvSpPr/>
          <p:nvPr/>
        </p:nvSpPr>
        <p:spPr>
          <a:xfrm>
            <a:off x="7050024" y="3977640"/>
            <a:ext cx="228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169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73" name="Shape 71"/>
          <p:cNvSpPr/>
          <p:nvPr/>
        </p:nvSpPr>
        <p:spPr>
          <a:xfrm>
            <a:off x="7799832" y="3063240"/>
            <a:ext cx="457200" cy="457200"/>
          </a:xfrm>
          <a:prstGeom prst="ellipse">
            <a:avLst/>
          </a:prstGeom>
          <a:solidFill>
            <a:srgbClr val="DAA520"/>
          </a:solidFill>
          <a:ln/>
        </p:spPr>
      </p:sp>
      <p:sp>
        <p:nvSpPr>
          <p:cNvPr id="74" name="Text 72"/>
          <p:cNvSpPr/>
          <p:nvPr/>
        </p:nvSpPr>
        <p:spPr>
          <a:xfrm>
            <a:off x="7799832" y="30632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600" dirty="0"/>
          </a:p>
        </p:txBody>
      </p:sp>
      <p:sp>
        <p:nvSpPr>
          <p:cNvPr id="75" name="Shape 73"/>
          <p:cNvSpPr/>
          <p:nvPr/>
        </p:nvSpPr>
        <p:spPr>
          <a:xfrm>
            <a:off x="7205472" y="3566160"/>
            <a:ext cx="16459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25400">
            <a:solidFill>
              <a:srgbClr val="DAA520"/>
            </a:solidFill>
            <a:prstDash val="solid"/>
          </a:ln>
          <a:effectLst>
            <a:outerShdw sx="100000" sy="100000" kx="0" ky="0" algn="bl" rotWithShape="0" blurRad="38100" dist="25400" dir="16200000">
              <a:srgbClr val="CCCCCC">
                <a:alpha val="75000"/>
              </a:srgbClr>
            </a:outerShdw>
          </a:effectLst>
        </p:spPr>
      </p:sp>
      <p:sp>
        <p:nvSpPr>
          <p:cNvPr id="76" name="Text 74"/>
          <p:cNvSpPr/>
          <p:nvPr/>
        </p:nvSpPr>
        <p:spPr>
          <a:xfrm>
            <a:off x="7205472" y="361188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AA5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CERTIFICACAO</a:t>
            </a:r>
            <a:endParaRPr lang="en-US" sz="900" dirty="0"/>
          </a:p>
        </p:txBody>
      </p:sp>
      <p:sp>
        <p:nvSpPr>
          <p:cNvPr id="77" name="Text 75"/>
          <p:cNvSpPr/>
          <p:nvPr/>
        </p:nvSpPr>
        <p:spPr>
          <a:xfrm>
            <a:off x="7205472" y="388620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Certificado NR-01</a:t>
            </a:r>
            <a:endParaRPr lang="en-US" sz="800" dirty="0"/>
          </a:p>
        </p:txBody>
      </p:sp>
      <p:sp>
        <p:nvSpPr>
          <p:cNvPr id="78" name="Text 76"/>
          <p:cNvSpPr/>
          <p:nvPr/>
        </p:nvSpPr>
        <p:spPr>
          <a:xfrm>
            <a:off x="7251192" y="416052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Certificado de Conformidade NR-01 emitido</a:t>
            </a:r>
            <a:endParaRPr lang="en-US" sz="700" dirty="0"/>
          </a:p>
        </p:txBody>
      </p:sp>
      <p:sp>
        <p:nvSpPr>
          <p:cNvPr id="79" name="Shape 77"/>
          <p:cNvSpPr/>
          <p:nvPr/>
        </p:nvSpPr>
        <p:spPr>
          <a:xfrm>
            <a:off x="7388352" y="4590288"/>
            <a:ext cx="1280160" cy="228600"/>
          </a:xfrm>
          <a:prstGeom prst="roundRect">
            <a:avLst>
              <a:gd name="adj" fmla="val 20000"/>
            </a:avLst>
          </a:prstGeom>
          <a:solidFill>
            <a:srgbClr val="E1F5FE"/>
          </a:solidFill>
          <a:ln w="12700">
            <a:solidFill>
              <a:srgbClr val="0277BD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7388352" y="4590288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27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✉ 1 email(s)</a:t>
            </a:r>
            <a:endParaRPr lang="en-US" sz="700" dirty="0"/>
          </a:p>
        </p:txBody>
      </p:sp>
      <p:sp>
        <p:nvSpPr>
          <p:cNvPr id="81" name="Text 79"/>
          <p:cNvSpPr/>
          <p:nvPr/>
        </p:nvSpPr>
        <p:spPr>
          <a:xfrm>
            <a:off x="4206240" y="3063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4572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1 — ONBOARDING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274320" y="4114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DDD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Cadastro da Empresa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0" y="45720"/>
            <a:ext cx="1097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>
                    <a:alpha val="3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800" dirty="0"/>
          </a:p>
        </p:txBody>
      </p:sp>
      <p:sp>
        <p:nvSpPr>
          <p:cNvPr id="6" name="Shape 4"/>
          <p:cNvSpPr/>
          <p:nvPr/>
        </p:nvSpPr>
        <p:spPr>
          <a:xfrm>
            <a:off x="365760" y="1097280"/>
            <a:ext cx="493776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9050">
            <a:solidFill>
              <a:srgbClr val="4A9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20624" y="1152144"/>
            <a:ext cx="301752" cy="301752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8" name="Text 6"/>
          <p:cNvSpPr/>
          <p:nvPr/>
        </p:nvSpPr>
        <p:spPr>
          <a:xfrm>
            <a:off x="420624" y="1152144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22960" y="1097280"/>
            <a:ext cx="4343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Consultor informa CNPJ no chat do SamurAI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834640" y="1682496"/>
            <a:ext cx="0" cy="73152"/>
          </a:xfrm>
          <a:prstGeom prst="line">
            <a:avLst/>
          </a:prstGeom>
          <a:noFill/>
          <a:ln w="25400">
            <a:solidFill>
              <a:srgbClr val="4A90D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5760" y="1755648"/>
            <a:ext cx="493776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9050">
            <a:solidFill>
              <a:srgbClr val="4A90D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0624" y="1810512"/>
            <a:ext cx="301752" cy="301752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13" name="Text 11"/>
          <p:cNvSpPr/>
          <p:nvPr/>
        </p:nvSpPr>
        <p:spPr>
          <a:xfrm>
            <a:off x="420624" y="1810512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22960" y="1755648"/>
            <a:ext cx="4343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SamurAI consulta Receita Federal (API CNPJ)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834640" y="2340864"/>
            <a:ext cx="0" cy="73152"/>
          </a:xfrm>
          <a:prstGeom prst="line">
            <a:avLst/>
          </a:prstGeom>
          <a:noFill/>
          <a:ln w="25400">
            <a:solidFill>
              <a:srgbClr val="4A90D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65760" y="2414016"/>
            <a:ext cx="493776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9050">
            <a:solidFill>
              <a:srgbClr val="4A90D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20624" y="2468880"/>
            <a:ext cx="301752" cy="301752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18" name="Text 16"/>
          <p:cNvSpPr/>
          <p:nvPr/>
        </p:nvSpPr>
        <p:spPr>
          <a:xfrm>
            <a:off x="420624" y="2468880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22960" y="2414016"/>
            <a:ext cx="4343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Extrai: Razao Social, setor, porte, endereco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834640" y="2999232"/>
            <a:ext cx="0" cy="73152"/>
          </a:xfrm>
          <a:prstGeom prst="line">
            <a:avLst/>
          </a:prstGeom>
          <a:noFill/>
          <a:ln w="25400">
            <a:solidFill>
              <a:srgbClr val="4A90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5760" y="3072384"/>
            <a:ext cx="493776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9050">
            <a:solidFill>
              <a:srgbClr val="4A90D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20624" y="3127248"/>
            <a:ext cx="301752" cy="301752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23" name="Text 21"/>
          <p:cNvSpPr/>
          <p:nvPr/>
        </p:nvSpPr>
        <p:spPr>
          <a:xfrm>
            <a:off x="420624" y="312724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22960" y="3072384"/>
            <a:ext cx="4343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Consultor confirma dados e numero de colaboradores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834640" y="3657600"/>
            <a:ext cx="0" cy="73152"/>
          </a:xfrm>
          <a:prstGeom prst="line">
            <a:avLst/>
          </a:prstGeom>
          <a:noFill/>
          <a:ln w="25400">
            <a:solidFill>
              <a:srgbClr val="4A9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65760" y="3730752"/>
            <a:ext cx="493776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9050">
            <a:solidFill>
              <a:srgbClr val="4A90D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20624" y="3785616"/>
            <a:ext cx="301752" cy="301752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28" name="Text 26"/>
          <p:cNvSpPr/>
          <p:nvPr/>
        </p:nvSpPr>
        <p:spPr>
          <a:xfrm>
            <a:off x="420624" y="3785616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22960" y="3730752"/>
            <a:ext cx="4343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cria registro da empresa no tenant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669280" y="1097280"/>
            <a:ext cx="3200400" cy="1005840"/>
          </a:xfrm>
          <a:prstGeom prst="roundRect">
            <a:avLst>
              <a:gd name="adj" fmla="val 9091"/>
            </a:avLst>
          </a:prstGeom>
          <a:solidFill>
            <a:srgbClr val="E8F5E9"/>
          </a:solidFill>
          <a:ln w="19050">
            <a:solidFill>
              <a:srgbClr val="4CAF5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806440" y="1115568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SAIDA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806440" y="1353312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Empresa cadastrada com perfil completo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669280" y="2286000"/>
            <a:ext cx="3200400" cy="868680"/>
          </a:xfrm>
          <a:prstGeom prst="roundRect">
            <a:avLst>
              <a:gd name="adj" fmla="val 10526"/>
            </a:avLst>
          </a:prstGeom>
          <a:solidFill>
            <a:srgbClr val="FFF3E0"/>
          </a:solidFill>
          <a:ln w="19050">
            <a:solidFill>
              <a:srgbClr val="FF98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806440" y="2304288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5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GATILHO DE TRANSICAO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5806440" y="2542032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CNPJ validado + headcount informado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669280" y="411480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➡ Proxima fase: DIAGNOSTICO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7B68EE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4572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2 — DIAGNOSTICO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274320" y="4114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DDD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Diagnostico e Pre-Proposta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0" y="45720"/>
            <a:ext cx="1097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>
                    <a:alpha val="3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800" dirty="0"/>
          </a:p>
        </p:txBody>
      </p:sp>
      <p:sp>
        <p:nvSpPr>
          <p:cNvPr id="6" name="Shape 4"/>
          <p:cNvSpPr/>
          <p:nvPr/>
        </p:nvSpPr>
        <p:spPr>
          <a:xfrm>
            <a:off x="365760" y="1097280"/>
            <a:ext cx="493776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9050">
            <a:solidFill>
              <a:srgbClr val="7B68E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20624" y="1152144"/>
            <a:ext cx="301752" cy="301752"/>
          </a:xfrm>
          <a:prstGeom prst="ellipse">
            <a:avLst/>
          </a:prstGeom>
          <a:solidFill>
            <a:srgbClr val="7B68EE"/>
          </a:solidFill>
          <a:ln/>
        </p:spPr>
      </p:sp>
      <p:sp>
        <p:nvSpPr>
          <p:cNvPr id="8" name="Text 6"/>
          <p:cNvSpPr/>
          <p:nvPr/>
        </p:nvSpPr>
        <p:spPr>
          <a:xfrm>
            <a:off x="420624" y="1152144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22960" y="1097280"/>
            <a:ext cx="4343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Analisa perfil da empresa (setor, porte, risco)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834640" y="1591056"/>
            <a:ext cx="0" cy="73152"/>
          </a:xfrm>
          <a:prstGeom prst="line">
            <a:avLst/>
          </a:prstGeom>
          <a:noFill/>
          <a:ln w="25400">
            <a:solidFill>
              <a:srgbClr val="7B68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5760" y="1664208"/>
            <a:ext cx="493776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9050">
            <a:solidFill>
              <a:srgbClr val="7B68E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0624" y="1719072"/>
            <a:ext cx="301752" cy="301752"/>
          </a:xfrm>
          <a:prstGeom prst="ellipse">
            <a:avLst/>
          </a:prstGeom>
          <a:solidFill>
            <a:srgbClr val="7B68EE"/>
          </a:solidFill>
          <a:ln/>
        </p:spPr>
      </p:sp>
      <p:sp>
        <p:nvSpPr>
          <p:cNvPr id="13" name="Text 11"/>
          <p:cNvSpPr/>
          <p:nvPr/>
        </p:nvSpPr>
        <p:spPr>
          <a:xfrm>
            <a:off x="420624" y="1719072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22960" y="1664208"/>
            <a:ext cx="4343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 checklist de 25 itens NR-01 + 11 milestones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834640" y="2157984"/>
            <a:ext cx="0" cy="73152"/>
          </a:xfrm>
          <a:prstGeom prst="line">
            <a:avLst/>
          </a:prstGeom>
          <a:noFill/>
          <a:ln w="25400">
            <a:solidFill>
              <a:srgbClr val="7B68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65760" y="2231136"/>
            <a:ext cx="493776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9050">
            <a:solidFill>
              <a:srgbClr val="7B68E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20624" y="2286000"/>
            <a:ext cx="301752" cy="301752"/>
          </a:xfrm>
          <a:prstGeom prst="ellipse">
            <a:avLst/>
          </a:prstGeom>
          <a:solidFill>
            <a:srgbClr val="7B68EE"/>
          </a:solidFill>
          <a:ln/>
        </p:spPr>
      </p:sp>
      <p:sp>
        <p:nvSpPr>
          <p:cNvPr id="18" name="Text 16"/>
          <p:cNvSpPr/>
          <p:nvPr/>
        </p:nvSpPr>
        <p:spPr>
          <a:xfrm>
            <a:off x="420624" y="2286000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22960" y="2231136"/>
            <a:ext cx="4343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 precificacao por porte e complexidade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834640" y="2724912"/>
            <a:ext cx="0" cy="73152"/>
          </a:xfrm>
          <a:prstGeom prst="line">
            <a:avLst/>
          </a:prstGeom>
          <a:noFill/>
          <a:ln w="25400">
            <a:solidFill>
              <a:srgbClr val="7B68E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5760" y="2798064"/>
            <a:ext cx="493776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9050">
            <a:solidFill>
              <a:srgbClr val="7B68E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20624" y="2852928"/>
            <a:ext cx="301752" cy="301752"/>
          </a:xfrm>
          <a:prstGeom prst="ellipse">
            <a:avLst/>
          </a:prstGeom>
          <a:solidFill>
            <a:srgbClr val="7B68EE"/>
          </a:solidFill>
          <a:ln/>
        </p:spPr>
      </p:sp>
      <p:sp>
        <p:nvSpPr>
          <p:cNvPr id="23" name="Text 21"/>
          <p:cNvSpPr/>
          <p:nvPr/>
        </p:nvSpPr>
        <p:spPr>
          <a:xfrm>
            <a:off x="420624" y="285292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22960" y="2798064"/>
            <a:ext cx="4343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 pre-proposta comercial automaticamente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834640" y="3291840"/>
            <a:ext cx="0" cy="73152"/>
          </a:xfrm>
          <a:prstGeom prst="line">
            <a:avLst/>
          </a:prstGeom>
          <a:noFill/>
          <a:ln w="25400">
            <a:solidFill>
              <a:srgbClr val="7B68E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65760" y="3364992"/>
            <a:ext cx="493776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9050">
            <a:solidFill>
              <a:srgbClr val="7B68E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20624" y="3419856"/>
            <a:ext cx="301752" cy="301752"/>
          </a:xfrm>
          <a:prstGeom prst="ellipse">
            <a:avLst/>
          </a:prstGeom>
          <a:solidFill>
            <a:srgbClr val="7B68EE"/>
          </a:solidFill>
          <a:ln/>
        </p:spPr>
      </p:sp>
      <p:sp>
        <p:nvSpPr>
          <p:cNvPr id="28" name="Text 26"/>
          <p:cNvSpPr/>
          <p:nvPr/>
        </p:nvSpPr>
        <p:spPr>
          <a:xfrm>
            <a:off x="420624" y="3419856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22960" y="3364992"/>
            <a:ext cx="4343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Envia pre-proposta para aprovacao da empresa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669280" y="1097280"/>
            <a:ext cx="3200400" cy="1005840"/>
          </a:xfrm>
          <a:prstGeom prst="roundRect">
            <a:avLst>
              <a:gd name="adj" fmla="val 9091"/>
            </a:avLst>
          </a:prstGeom>
          <a:solidFill>
            <a:srgbClr val="E8F5E9"/>
          </a:solidFill>
          <a:ln w="19050">
            <a:solidFill>
              <a:srgbClr val="4CAF5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806440" y="1115568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SAIDA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806440" y="1353312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Pre-proposta enviada a empresa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669280" y="2286000"/>
            <a:ext cx="3200400" cy="868680"/>
          </a:xfrm>
          <a:prstGeom prst="roundRect">
            <a:avLst>
              <a:gd name="adj" fmla="val 10526"/>
            </a:avLst>
          </a:prstGeom>
          <a:solidFill>
            <a:srgbClr val="FFF3E0"/>
          </a:solidFill>
          <a:ln w="19050">
            <a:solidFill>
              <a:srgbClr val="FF98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806440" y="2304288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5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GATILHO DE TRANSICAO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5806440" y="2542032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Empresa criada com setor e porte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669280" y="3337560"/>
            <a:ext cx="3200400" cy="621792"/>
          </a:xfrm>
          <a:prstGeom prst="roundRect">
            <a:avLst>
              <a:gd name="adj" fmla="val 14706"/>
            </a:avLst>
          </a:prstGeom>
          <a:solidFill>
            <a:srgbClr val="E1F5FE"/>
          </a:solidFill>
          <a:ln w="19050">
            <a:solidFill>
              <a:srgbClr val="0277B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760720" y="3355848"/>
            <a:ext cx="3017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7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✉  COMUNICACOES POR EMAIL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5760720" y="3611880"/>
            <a:ext cx="1463040" cy="164592"/>
          </a:xfrm>
          <a:prstGeom prst="roundRect">
            <a:avLst>
              <a:gd name="adj" fmla="val 22222"/>
            </a:avLst>
          </a:prstGeom>
          <a:solidFill>
            <a:srgbClr val="0277BD"/>
          </a:solidFill>
          <a:ln/>
        </p:spPr>
      </p:sp>
      <p:sp>
        <p:nvSpPr>
          <p:cNvPr id="39" name="Text 37"/>
          <p:cNvSpPr/>
          <p:nvPr/>
        </p:nvSpPr>
        <p:spPr>
          <a:xfrm>
            <a:off x="5760720" y="3611880"/>
            <a:ext cx="14630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Consultoria  →  Empresa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5760720" y="3776472"/>
            <a:ext cx="3017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Pre-proposta comercial com servicos, valores e botoes Aprovar / Rejeitar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5669280" y="46634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➡ Proxima fase: CONTRATACAO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20B2AA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4572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3 — CONTRATACAO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274320" y="4114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DDD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Aprovacao e Acesso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0" y="45720"/>
            <a:ext cx="1097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>
                    <a:alpha val="3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800" dirty="0"/>
          </a:p>
        </p:txBody>
      </p:sp>
      <p:sp>
        <p:nvSpPr>
          <p:cNvPr id="6" name="Shape 4"/>
          <p:cNvSpPr/>
          <p:nvPr/>
        </p:nvSpPr>
        <p:spPr>
          <a:xfrm>
            <a:off x="365760" y="1097280"/>
            <a:ext cx="493776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9050">
            <a:solidFill>
              <a:srgbClr val="20B2A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20624" y="1152144"/>
            <a:ext cx="301752" cy="301752"/>
          </a:xfrm>
          <a:prstGeom prst="ellipse">
            <a:avLst/>
          </a:prstGeom>
          <a:solidFill>
            <a:srgbClr val="20B2AA"/>
          </a:solidFill>
          <a:ln/>
        </p:spPr>
      </p:sp>
      <p:sp>
        <p:nvSpPr>
          <p:cNvPr id="8" name="Text 6"/>
          <p:cNvSpPr/>
          <p:nvPr/>
        </p:nvSpPr>
        <p:spPr>
          <a:xfrm>
            <a:off x="420624" y="1152144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22960" y="1097280"/>
            <a:ext cx="4343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Empresa clica 'Aprovar' no email da proposta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834640" y="1591056"/>
            <a:ext cx="0" cy="73152"/>
          </a:xfrm>
          <a:prstGeom prst="line">
            <a:avLst/>
          </a:prstGeom>
          <a:noFill/>
          <a:ln w="25400">
            <a:solidFill>
              <a:srgbClr val="20B2A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5760" y="1664208"/>
            <a:ext cx="493776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9050">
            <a:solidFill>
              <a:srgbClr val="20B2A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0624" y="1719072"/>
            <a:ext cx="301752" cy="301752"/>
          </a:xfrm>
          <a:prstGeom prst="ellipse">
            <a:avLst/>
          </a:prstGeom>
          <a:solidFill>
            <a:srgbClr val="20B2AA"/>
          </a:solidFill>
          <a:ln/>
        </p:spPr>
      </p:sp>
      <p:sp>
        <p:nvSpPr>
          <p:cNvPr id="13" name="Text 11"/>
          <p:cNvSpPr/>
          <p:nvPr/>
        </p:nvSpPr>
        <p:spPr>
          <a:xfrm>
            <a:off x="420624" y="1719072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22960" y="1664208"/>
            <a:ext cx="4343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gera login e senha temporarios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834640" y="2157984"/>
            <a:ext cx="0" cy="73152"/>
          </a:xfrm>
          <a:prstGeom prst="line">
            <a:avLst/>
          </a:prstGeom>
          <a:noFill/>
          <a:ln w="25400">
            <a:solidFill>
              <a:srgbClr val="20B2A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65760" y="2231136"/>
            <a:ext cx="493776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9050">
            <a:solidFill>
              <a:srgbClr val="20B2A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20624" y="2286000"/>
            <a:ext cx="301752" cy="301752"/>
          </a:xfrm>
          <a:prstGeom prst="ellipse">
            <a:avLst/>
          </a:prstGeom>
          <a:solidFill>
            <a:srgbClr val="20B2AA"/>
          </a:solidFill>
          <a:ln/>
        </p:spPr>
      </p:sp>
      <p:sp>
        <p:nvSpPr>
          <p:cNvPr id="18" name="Text 16"/>
          <p:cNvSpPr/>
          <p:nvPr/>
        </p:nvSpPr>
        <p:spPr>
          <a:xfrm>
            <a:off x="420624" y="2286000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22960" y="2231136"/>
            <a:ext cx="4343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Envia email de boas-vindas com credenciais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834640" y="2724912"/>
            <a:ext cx="0" cy="73152"/>
          </a:xfrm>
          <a:prstGeom prst="line">
            <a:avLst/>
          </a:prstGeom>
          <a:noFill/>
          <a:ln w="25400">
            <a:solidFill>
              <a:srgbClr val="20B2A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5760" y="2798064"/>
            <a:ext cx="493776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9050">
            <a:solidFill>
              <a:srgbClr val="20B2A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20624" y="2852928"/>
            <a:ext cx="301752" cy="301752"/>
          </a:xfrm>
          <a:prstGeom prst="ellipse">
            <a:avLst/>
          </a:prstGeom>
          <a:solidFill>
            <a:srgbClr val="20B2AA"/>
          </a:solidFill>
          <a:ln/>
        </p:spPr>
      </p:sp>
      <p:sp>
        <p:nvSpPr>
          <p:cNvPr id="23" name="Text 21"/>
          <p:cNvSpPr/>
          <p:nvPr/>
        </p:nvSpPr>
        <p:spPr>
          <a:xfrm>
            <a:off x="420624" y="285292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22960" y="2798064"/>
            <a:ext cx="4343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Envia instrucoes de pagamento (3 parcelas)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834640" y="3291840"/>
            <a:ext cx="0" cy="73152"/>
          </a:xfrm>
          <a:prstGeom prst="line">
            <a:avLst/>
          </a:prstGeom>
          <a:noFill/>
          <a:ln w="25400">
            <a:solidFill>
              <a:srgbClr val="20B2A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65760" y="3364992"/>
            <a:ext cx="493776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9050">
            <a:solidFill>
              <a:srgbClr val="20B2A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20624" y="3419856"/>
            <a:ext cx="301752" cy="301752"/>
          </a:xfrm>
          <a:prstGeom prst="ellipse">
            <a:avLst/>
          </a:prstGeom>
          <a:solidFill>
            <a:srgbClr val="20B2AA"/>
          </a:solidFill>
          <a:ln/>
        </p:spPr>
      </p:sp>
      <p:sp>
        <p:nvSpPr>
          <p:cNvPr id="28" name="Text 26"/>
          <p:cNvSpPr/>
          <p:nvPr/>
        </p:nvSpPr>
        <p:spPr>
          <a:xfrm>
            <a:off x="420624" y="3419856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22960" y="3364992"/>
            <a:ext cx="4343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Empresa acessa plataforma e cadastra setores e colaboradores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669280" y="1097280"/>
            <a:ext cx="3200400" cy="1005840"/>
          </a:xfrm>
          <a:prstGeom prst="roundRect">
            <a:avLst>
              <a:gd name="adj" fmla="val 9091"/>
            </a:avLst>
          </a:prstGeom>
          <a:solidFill>
            <a:srgbClr val="E8F5E9"/>
          </a:solidFill>
          <a:ln w="19050">
            <a:solidFill>
              <a:srgbClr val="4CAF5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806440" y="1115568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SAIDA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806440" y="1353312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Empresa com acesso + pagamento iniciado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669280" y="2286000"/>
            <a:ext cx="3200400" cy="868680"/>
          </a:xfrm>
          <a:prstGeom prst="roundRect">
            <a:avLst>
              <a:gd name="adj" fmla="val 10526"/>
            </a:avLst>
          </a:prstGeom>
          <a:solidFill>
            <a:srgbClr val="FFF3E0"/>
          </a:solidFill>
          <a:ln w="19050">
            <a:solidFill>
              <a:srgbClr val="FF98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806440" y="2304288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5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GATILHO DE TRANSICAO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5806440" y="2542032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Empresa aprova a pre-proposta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669280" y="3337560"/>
            <a:ext cx="3200400" cy="1316736"/>
          </a:xfrm>
          <a:prstGeom prst="roundRect">
            <a:avLst>
              <a:gd name="adj" fmla="val 6944"/>
            </a:avLst>
          </a:prstGeom>
          <a:solidFill>
            <a:srgbClr val="E1F5FE"/>
          </a:solidFill>
          <a:ln w="19050">
            <a:solidFill>
              <a:srgbClr val="0277B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760720" y="3355848"/>
            <a:ext cx="3017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7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✉  COMUNICACOES POR EMAIL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5760720" y="3611880"/>
            <a:ext cx="1463040" cy="164592"/>
          </a:xfrm>
          <a:prstGeom prst="roundRect">
            <a:avLst>
              <a:gd name="adj" fmla="val 22222"/>
            </a:avLst>
          </a:prstGeom>
          <a:solidFill>
            <a:srgbClr val="0277BD"/>
          </a:solidFill>
          <a:ln/>
        </p:spPr>
      </p:sp>
      <p:sp>
        <p:nvSpPr>
          <p:cNvPr id="39" name="Text 37"/>
          <p:cNvSpPr/>
          <p:nvPr/>
        </p:nvSpPr>
        <p:spPr>
          <a:xfrm>
            <a:off x="5760720" y="3611880"/>
            <a:ext cx="14630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Empresa  →  Plataforma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5760720" y="3776472"/>
            <a:ext cx="3017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Clique no botao 'Aprovar Proposta' (link no email)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5760720" y="3959352"/>
            <a:ext cx="1463040" cy="164592"/>
          </a:xfrm>
          <a:prstGeom prst="roundRect">
            <a:avLst>
              <a:gd name="adj" fmla="val 22222"/>
            </a:avLst>
          </a:prstGeom>
          <a:solidFill>
            <a:srgbClr val="0277BD"/>
          </a:solidFill>
          <a:ln/>
        </p:spPr>
      </p:sp>
      <p:sp>
        <p:nvSpPr>
          <p:cNvPr id="42" name="Text 40"/>
          <p:cNvSpPr/>
          <p:nvPr/>
        </p:nvSpPr>
        <p:spPr>
          <a:xfrm>
            <a:off x="5760720" y="3959352"/>
            <a:ext cx="14630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Plataforma  →  Empresa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5760720" y="4123944"/>
            <a:ext cx="3017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 de boas-vindas com login, senha e passo-a-passo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5760720" y="4306824"/>
            <a:ext cx="1463040" cy="164592"/>
          </a:xfrm>
          <a:prstGeom prst="roundRect">
            <a:avLst>
              <a:gd name="adj" fmla="val 22222"/>
            </a:avLst>
          </a:prstGeom>
          <a:solidFill>
            <a:srgbClr val="0277BD"/>
          </a:solidFill>
          <a:ln/>
        </p:spPr>
      </p:sp>
      <p:sp>
        <p:nvSpPr>
          <p:cNvPr id="45" name="Text 43"/>
          <p:cNvSpPr/>
          <p:nvPr/>
        </p:nvSpPr>
        <p:spPr>
          <a:xfrm>
            <a:off x="5760720" y="4306824"/>
            <a:ext cx="14630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Plataforma  →  Empresa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5760720" y="4471416"/>
            <a:ext cx="3017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Instrucoes de pagamento: PIX/boleto, 3 parcelas (40%+30%+30%)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5669280" y="46634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➡ Proxima fase: AVALIACAO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8C00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4572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4 — AVALIACAO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274320" y="4114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DDD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Aplicacao COPSOQ-II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0" y="45720"/>
            <a:ext cx="1097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>
                    <a:alpha val="3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4800" dirty="0"/>
          </a:p>
        </p:txBody>
      </p:sp>
      <p:sp>
        <p:nvSpPr>
          <p:cNvPr id="6" name="Shape 4"/>
          <p:cNvSpPr/>
          <p:nvPr/>
        </p:nvSpPr>
        <p:spPr>
          <a:xfrm>
            <a:off x="365760" y="1097280"/>
            <a:ext cx="493776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9050">
            <a:solidFill>
              <a:srgbClr val="FF8C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20624" y="1152144"/>
            <a:ext cx="301752" cy="301752"/>
          </a:xfrm>
          <a:prstGeom prst="ellipse">
            <a:avLst/>
          </a:prstGeom>
          <a:solidFill>
            <a:srgbClr val="FF8C00"/>
          </a:solidFill>
          <a:ln/>
        </p:spPr>
      </p:sp>
      <p:sp>
        <p:nvSpPr>
          <p:cNvPr id="8" name="Text 6"/>
          <p:cNvSpPr/>
          <p:nvPr/>
        </p:nvSpPr>
        <p:spPr>
          <a:xfrm>
            <a:off x="420624" y="1152144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22960" y="1097280"/>
            <a:ext cx="4343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Empresa cadastra colaboradores (manual ou CSV)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834640" y="1591056"/>
            <a:ext cx="0" cy="73152"/>
          </a:xfrm>
          <a:prstGeom prst="line">
            <a:avLst/>
          </a:prstGeom>
          <a:noFill/>
          <a:ln w="25400">
            <a:solidFill>
              <a:srgbClr val="FF8C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5760" y="1664208"/>
            <a:ext cx="493776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9050">
            <a:solidFill>
              <a:srgbClr val="FF8C0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0624" y="1719072"/>
            <a:ext cx="301752" cy="301752"/>
          </a:xfrm>
          <a:prstGeom prst="ellipse">
            <a:avLst/>
          </a:prstGeom>
          <a:solidFill>
            <a:srgbClr val="FF8C00"/>
          </a:solidFill>
          <a:ln/>
        </p:spPr>
      </p:sp>
      <p:sp>
        <p:nvSpPr>
          <p:cNvPr id="13" name="Text 11"/>
          <p:cNvSpPr/>
          <p:nvPr/>
        </p:nvSpPr>
        <p:spPr>
          <a:xfrm>
            <a:off x="420624" y="1719072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22960" y="1664208"/>
            <a:ext cx="4343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avaliacao COPSOQ-II (76 questoes, 12 dimensoes)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834640" y="2157984"/>
            <a:ext cx="0" cy="73152"/>
          </a:xfrm>
          <a:prstGeom prst="line">
            <a:avLst/>
          </a:prstGeom>
          <a:noFill/>
          <a:ln w="25400">
            <a:solidFill>
              <a:srgbClr val="FF8C0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65760" y="2231136"/>
            <a:ext cx="493776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9050">
            <a:solidFill>
              <a:srgbClr val="FF8C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20624" y="2286000"/>
            <a:ext cx="301752" cy="301752"/>
          </a:xfrm>
          <a:prstGeom prst="ellipse">
            <a:avLst/>
          </a:prstGeom>
          <a:solidFill>
            <a:srgbClr val="FF8C00"/>
          </a:solidFill>
          <a:ln/>
        </p:spPr>
      </p:sp>
      <p:sp>
        <p:nvSpPr>
          <p:cNvPr id="18" name="Text 16"/>
          <p:cNvSpPr/>
          <p:nvPr/>
        </p:nvSpPr>
        <p:spPr>
          <a:xfrm>
            <a:off x="420624" y="2286000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22960" y="2231136"/>
            <a:ext cx="4343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Envia convites por email a todos os colaboradores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834640" y="2724912"/>
            <a:ext cx="0" cy="73152"/>
          </a:xfrm>
          <a:prstGeom prst="line">
            <a:avLst/>
          </a:prstGeom>
          <a:noFill/>
          <a:ln w="25400">
            <a:solidFill>
              <a:srgbClr val="FF8C0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5760" y="2798064"/>
            <a:ext cx="493776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9050">
            <a:solidFill>
              <a:srgbClr val="FF8C0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20624" y="2852928"/>
            <a:ext cx="301752" cy="301752"/>
          </a:xfrm>
          <a:prstGeom prst="ellipse">
            <a:avLst/>
          </a:prstGeom>
          <a:solidFill>
            <a:srgbClr val="FF8C00"/>
          </a:solidFill>
          <a:ln/>
        </p:spPr>
      </p:sp>
      <p:sp>
        <p:nvSpPr>
          <p:cNvPr id="23" name="Text 21"/>
          <p:cNvSpPr/>
          <p:nvPr/>
        </p:nvSpPr>
        <p:spPr>
          <a:xfrm>
            <a:off x="420624" y="285292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22960" y="2798064"/>
            <a:ext cx="4343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Lembretes automaticos: 2, 5 e 9 dias apos envio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834640" y="3291840"/>
            <a:ext cx="0" cy="73152"/>
          </a:xfrm>
          <a:prstGeom prst="line">
            <a:avLst/>
          </a:prstGeom>
          <a:noFill/>
          <a:ln w="25400">
            <a:solidFill>
              <a:srgbClr val="FF8C0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65760" y="3364992"/>
            <a:ext cx="493776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9050">
            <a:solidFill>
              <a:srgbClr val="FF8C0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20624" y="3419856"/>
            <a:ext cx="301752" cy="301752"/>
          </a:xfrm>
          <a:prstGeom prst="ellipse">
            <a:avLst/>
          </a:prstGeom>
          <a:solidFill>
            <a:srgbClr val="FF8C00"/>
          </a:solidFill>
          <a:ln/>
        </p:spPr>
      </p:sp>
      <p:sp>
        <p:nvSpPr>
          <p:cNvPr id="28" name="Text 26"/>
          <p:cNvSpPr/>
          <p:nvPr/>
        </p:nvSpPr>
        <p:spPr>
          <a:xfrm>
            <a:off x="420624" y="3419856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22960" y="3364992"/>
            <a:ext cx="4343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Meta: 70% de respostas para prosseguir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669280" y="1097280"/>
            <a:ext cx="3200400" cy="1005840"/>
          </a:xfrm>
          <a:prstGeom prst="roundRect">
            <a:avLst>
              <a:gd name="adj" fmla="val 9091"/>
            </a:avLst>
          </a:prstGeom>
          <a:solidFill>
            <a:srgbClr val="E8F5E9"/>
          </a:solidFill>
          <a:ln w="19050">
            <a:solidFill>
              <a:srgbClr val="4CAF5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806440" y="1115568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SAIDA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806440" y="1353312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Respostas COPSOQ-II coletadas (&gt;= 70%)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669280" y="2286000"/>
            <a:ext cx="3200400" cy="868680"/>
          </a:xfrm>
          <a:prstGeom prst="roundRect">
            <a:avLst>
              <a:gd name="adj" fmla="val 10526"/>
            </a:avLst>
          </a:prstGeom>
          <a:solidFill>
            <a:srgbClr val="FFF3E0"/>
          </a:solidFill>
          <a:ln w="19050">
            <a:solidFill>
              <a:srgbClr val="FF98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806440" y="2304288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5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GATILHO DE TRANSICAO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5806440" y="2542032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Empresa cadastrou colaboradores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669280" y="3337560"/>
            <a:ext cx="3200400" cy="1664208"/>
          </a:xfrm>
          <a:prstGeom prst="roundRect">
            <a:avLst>
              <a:gd name="adj" fmla="val 5495"/>
            </a:avLst>
          </a:prstGeom>
          <a:solidFill>
            <a:srgbClr val="E1F5FE"/>
          </a:solidFill>
          <a:ln w="19050">
            <a:solidFill>
              <a:srgbClr val="0277B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760720" y="3355848"/>
            <a:ext cx="3017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7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✉  COMUNICACOES POR EMAIL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5760720" y="3611880"/>
            <a:ext cx="1463040" cy="164592"/>
          </a:xfrm>
          <a:prstGeom prst="roundRect">
            <a:avLst>
              <a:gd name="adj" fmla="val 22222"/>
            </a:avLst>
          </a:prstGeom>
          <a:solidFill>
            <a:srgbClr val="0277BD"/>
          </a:solidFill>
          <a:ln/>
        </p:spPr>
      </p:sp>
      <p:sp>
        <p:nvSpPr>
          <p:cNvPr id="39" name="Text 37"/>
          <p:cNvSpPr/>
          <p:nvPr/>
        </p:nvSpPr>
        <p:spPr>
          <a:xfrm>
            <a:off x="5760720" y="3611880"/>
            <a:ext cx="14630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Plataforma  →  Colaboradores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5760720" y="3776472"/>
            <a:ext cx="3017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Convite COPSOQ-II: link anonimo, 15-20 min, confidencial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5760720" y="3959352"/>
            <a:ext cx="1463040" cy="164592"/>
          </a:xfrm>
          <a:prstGeom prst="roundRect">
            <a:avLst>
              <a:gd name="adj" fmla="val 22222"/>
            </a:avLst>
          </a:prstGeom>
          <a:solidFill>
            <a:srgbClr val="0277BD"/>
          </a:solidFill>
          <a:ln/>
        </p:spPr>
      </p:sp>
      <p:sp>
        <p:nvSpPr>
          <p:cNvPr id="42" name="Text 40"/>
          <p:cNvSpPr/>
          <p:nvPr/>
        </p:nvSpPr>
        <p:spPr>
          <a:xfrm>
            <a:off x="5760720" y="3959352"/>
            <a:ext cx="14630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Plataforma  →  Colaboradores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5760720" y="4123944"/>
            <a:ext cx="3017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Lembrete 1 (2 dias), Lembrete 2 (5 dias), Lembrete 3 (9 dias)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5760720" y="4306824"/>
            <a:ext cx="1463040" cy="164592"/>
          </a:xfrm>
          <a:prstGeom prst="roundRect">
            <a:avLst>
              <a:gd name="adj" fmla="val 22222"/>
            </a:avLst>
          </a:prstGeom>
          <a:solidFill>
            <a:srgbClr val="0277BD"/>
          </a:solidFill>
          <a:ln/>
        </p:spPr>
      </p:sp>
      <p:sp>
        <p:nvSpPr>
          <p:cNvPr id="45" name="Text 43"/>
          <p:cNvSpPr/>
          <p:nvPr/>
        </p:nvSpPr>
        <p:spPr>
          <a:xfrm>
            <a:off x="5760720" y="4306824"/>
            <a:ext cx="14630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Plataforma  →  Colaboradores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5760720" y="4471416"/>
            <a:ext cx="3017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Confirmacao de resposta recebida (apos completar)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5760720" y="4654296"/>
            <a:ext cx="1463040" cy="164592"/>
          </a:xfrm>
          <a:prstGeom prst="roundRect">
            <a:avLst>
              <a:gd name="adj" fmla="val 22222"/>
            </a:avLst>
          </a:prstGeom>
          <a:solidFill>
            <a:srgbClr val="0277BD"/>
          </a:solidFill>
          <a:ln/>
        </p:spPr>
      </p:sp>
      <p:sp>
        <p:nvSpPr>
          <p:cNvPr id="48" name="Text 46"/>
          <p:cNvSpPr/>
          <p:nvPr/>
        </p:nvSpPr>
        <p:spPr>
          <a:xfrm>
            <a:off x="5760720" y="4654296"/>
            <a:ext cx="14630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Plataforma  →  Consultoria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5760720" y="4818888"/>
            <a:ext cx="3017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Alerta: cota de convites atingindo 80% do plano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5669280" y="46634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➡ Proxima fase: ANALISE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DC143C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4572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5 — ANALISE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274320" y="4114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DDD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Analise por IA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0" y="45720"/>
            <a:ext cx="1097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>
                    <a:alpha val="3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4800" dirty="0"/>
          </a:p>
        </p:txBody>
      </p:sp>
      <p:sp>
        <p:nvSpPr>
          <p:cNvPr id="6" name="Shape 4"/>
          <p:cNvSpPr/>
          <p:nvPr/>
        </p:nvSpPr>
        <p:spPr>
          <a:xfrm>
            <a:off x="365760" y="1097280"/>
            <a:ext cx="493776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9050">
            <a:solidFill>
              <a:srgbClr val="DC143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20624" y="1152144"/>
            <a:ext cx="301752" cy="301752"/>
          </a:xfrm>
          <a:prstGeom prst="ellipse">
            <a:avLst/>
          </a:prstGeom>
          <a:solidFill>
            <a:srgbClr val="DC143C"/>
          </a:solidFill>
          <a:ln/>
        </p:spPr>
      </p:sp>
      <p:sp>
        <p:nvSpPr>
          <p:cNvPr id="8" name="Text 6"/>
          <p:cNvSpPr/>
          <p:nvPr/>
        </p:nvSpPr>
        <p:spPr>
          <a:xfrm>
            <a:off x="420624" y="1152144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22960" y="1097280"/>
            <a:ext cx="4343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 (Gemini 2.5 Flash) processa todas as respostas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834640" y="1682496"/>
            <a:ext cx="0" cy="73152"/>
          </a:xfrm>
          <a:prstGeom prst="line">
            <a:avLst/>
          </a:prstGeom>
          <a:noFill/>
          <a:ln w="25400">
            <a:solidFill>
              <a:srgbClr val="DC143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5760" y="1755648"/>
            <a:ext cx="493776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9050">
            <a:solidFill>
              <a:srgbClr val="DC143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0624" y="1810512"/>
            <a:ext cx="301752" cy="301752"/>
          </a:xfrm>
          <a:prstGeom prst="ellipse">
            <a:avLst/>
          </a:prstGeom>
          <a:solidFill>
            <a:srgbClr val="DC143C"/>
          </a:solidFill>
          <a:ln/>
        </p:spPr>
      </p:sp>
      <p:sp>
        <p:nvSpPr>
          <p:cNvPr id="13" name="Text 11"/>
          <p:cNvSpPr/>
          <p:nvPr/>
        </p:nvSpPr>
        <p:spPr>
          <a:xfrm>
            <a:off x="420624" y="1810512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22960" y="1755648"/>
            <a:ext cx="4343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 scores das 12 dimensoes psicossociais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834640" y="2340864"/>
            <a:ext cx="0" cy="73152"/>
          </a:xfrm>
          <a:prstGeom prst="line">
            <a:avLst/>
          </a:prstGeom>
          <a:noFill/>
          <a:ln w="25400">
            <a:solidFill>
              <a:srgbClr val="DC143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65760" y="2414016"/>
            <a:ext cx="493776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9050">
            <a:solidFill>
              <a:srgbClr val="DC143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20624" y="2468880"/>
            <a:ext cx="301752" cy="301752"/>
          </a:xfrm>
          <a:prstGeom prst="ellipse">
            <a:avLst/>
          </a:prstGeom>
          <a:solidFill>
            <a:srgbClr val="DC143C"/>
          </a:solidFill>
          <a:ln/>
        </p:spPr>
      </p:sp>
      <p:sp>
        <p:nvSpPr>
          <p:cNvPr id="18" name="Text 16"/>
          <p:cNvSpPr/>
          <p:nvPr/>
        </p:nvSpPr>
        <p:spPr>
          <a:xfrm>
            <a:off x="420624" y="2468880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22960" y="2414016"/>
            <a:ext cx="4343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Identifica dimensoes criticas (score &lt; 30)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834640" y="2999232"/>
            <a:ext cx="0" cy="73152"/>
          </a:xfrm>
          <a:prstGeom prst="line">
            <a:avLst/>
          </a:prstGeom>
          <a:noFill/>
          <a:ln w="25400">
            <a:solidFill>
              <a:srgbClr val="DC143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5760" y="3072384"/>
            <a:ext cx="493776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9050">
            <a:solidFill>
              <a:srgbClr val="DC143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20624" y="3127248"/>
            <a:ext cx="301752" cy="301752"/>
          </a:xfrm>
          <a:prstGeom prst="ellipse">
            <a:avLst/>
          </a:prstGeom>
          <a:solidFill>
            <a:srgbClr val="DC143C"/>
          </a:solidFill>
          <a:ln/>
        </p:spPr>
      </p:sp>
      <p:sp>
        <p:nvSpPr>
          <p:cNvPr id="23" name="Text 21"/>
          <p:cNvSpPr/>
          <p:nvPr/>
        </p:nvSpPr>
        <p:spPr>
          <a:xfrm>
            <a:off x="420624" y="312724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22960" y="3072384"/>
            <a:ext cx="4343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 relatorio com recomendacoes priorizadas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834640" y="3657600"/>
            <a:ext cx="0" cy="73152"/>
          </a:xfrm>
          <a:prstGeom prst="line">
            <a:avLst/>
          </a:prstGeom>
          <a:noFill/>
          <a:ln w="25400">
            <a:solidFill>
              <a:srgbClr val="DC143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65760" y="3730752"/>
            <a:ext cx="493776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9050">
            <a:solidFill>
              <a:srgbClr val="DC143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20624" y="3785616"/>
            <a:ext cx="301752" cy="301752"/>
          </a:xfrm>
          <a:prstGeom prst="ellipse">
            <a:avLst/>
          </a:prstGeom>
          <a:solidFill>
            <a:srgbClr val="DC143C"/>
          </a:solidFill>
          <a:ln/>
        </p:spPr>
      </p:sp>
      <p:sp>
        <p:nvSpPr>
          <p:cNvPr id="28" name="Text 26"/>
          <p:cNvSpPr/>
          <p:nvPr/>
        </p:nvSpPr>
        <p:spPr>
          <a:xfrm>
            <a:off x="420624" y="3785616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22960" y="3730752"/>
            <a:ext cx="4343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Fallback: analise baseada em regras se IA indisponivel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669280" y="1097280"/>
            <a:ext cx="3200400" cy="1005840"/>
          </a:xfrm>
          <a:prstGeom prst="roundRect">
            <a:avLst>
              <a:gd name="adj" fmla="val 9091"/>
            </a:avLst>
          </a:prstGeom>
          <a:solidFill>
            <a:srgbClr val="E8F5E9"/>
          </a:solidFill>
          <a:ln w="19050">
            <a:solidFill>
              <a:srgbClr val="4CAF5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806440" y="1115568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SAIDA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806440" y="1353312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Relatorio COPSOQ-II com analise dimensional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669280" y="2286000"/>
            <a:ext cx="3200400" cy="868680"/>
          </a:xfrm>
          <a:prstGeom prst="roundRect">
            <a:avLst>
              <a:gd name="adj" fmla="val 10526"/>
            </a:avLst>
          </a:prstGeom>
          <a:solidFill>
            <a:srgbClr val="FFF3E0"/>
          </a:solidFill>
          <a:ln w="19050">
            <a:solidFill>
              <a:srgbClr val="FF98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806440" y="2304288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5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GATILHO DE TRANSICAO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5806440" y="2542032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&gt;= 70% de respostas recebidas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669280" y="411480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➡ Proxima fase: INVENTARIO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8B0000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4572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6 — INVENTARIO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274320" y="4114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DDD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Inventario de Riscos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0" y="45720"/>
            <a:ext cx="1097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>
                    <a:alpha val="3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4800" dirty="0"/>
          </a:p>
        </p:txBody>
      </p:sp>
      <p:sp>
        <p:nvSpPr>
          <p:cNvPr id="6" name="Shape 4"/>
          <p:cNvSpPr/>
          <p:nvPr/>
        </p:nvSpPr>
        <p:spPr>
          <a:xfrm>
            <a:off x="365760" y="1097280"/>
            <a:ext cx="493776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9050">
            <a:solidFill>
              <a:srgbClr val="8B00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20624" y="1152144"/>
            <a:ext cx="301752" cy="301752"/>
          </a:xfrm>
          <a:prstGeom prst="ellipse">
            <a:avLst/>
          </a:prstGeom>
          <a:solidFill>
            <a:srgbClr val="8B0000"/>
          </a:solidFill>
          <a:ln/>
        </p:spPr>
      </p:sp>
      <p:sp>
        <p:nvSpPr>
          <p:cNvPr id="8" name="Text 6"/>
          <p:cNvSpPr/>
          <p:nvPr/>
        </p:nvSpPr>
        <p:spPr>
          <a:xfrm>
            <a:off x="420624" y="1152144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22960" y="1097280"/>
            <a:ext cx="4343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 inventario conforme NR-01 par.1.5.7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834640" y="1682496"/>
            <a:ext cx="0" cy="73152"/>
          </a:xfrm>
          <a:prstGeom prst="line">
            <a:avLst/>
          </a:prstGeom>
          <a:noFill/>
          <a:ln w="25400">
            <a:solidFill>
              <a:srgbClr val="8B00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5760" y="1755648"/>
            <a:ext cx="493776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9050">
            <a:solidFill>
              <a:srgbClr val="8B000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0624" y="1810512"/>
            <a:ext cx="301752" cy="301752"/>
          </a:xfrm>
          <a:prstGeom prst="ellipse">
            <a:avLst/>
          </a:prstGeom>
          <a:solidFill>
            <a:srgbClr val="8B0000"/>
          </a:solidFill>
          <a:ln/>
        </p:spPr>
      </p:sp>
      <p:sp>
        <p:nvSpPr>
          <p:cNvPr id="13" name="Text 11"/>
          <p:cNvSpPr/>
          <p:nvPr/>
        </p:nvSpPr>
        <p:spPr>
          <a:xfrm>
            <a:off x="420624" y="1810512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22960" y="1755648"/>
            <a:ext cx="4343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 perigos nos 13 tipos MTE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834640" y="2340864"/>
            <a:ext cx="0" cy="73152"/>
          </a:xfrm>
          <a:prstGeom prst="line">
            <a:avLst/>
          </a:prstGeom>
          <a:noFill/>
          <a:ln w="25400">
            <a:solidFill>
              <a:srgbClr val="8B000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65760" y="2414016"/>
            <a:ext cx="493776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9050">
            <a:solidFill>
              <a:srgbClr val="8B00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20624" y="2468880"/>
            <a:ext cx="301752" cy="301752"/>
          </a:xfrm>
          <a:prstGeom prst="ellipse">
            <a:avLst/>
          </a:prstGeom>
          <a:solidFill>
            <a:srgbClr val="8B0000"/>
          </a:solidFill>
          <a:ln/>
        </p:spPr>
      </p:sp>
      <p:sp>
        <p:nvSpPr>
          <p:cNvPr id="18" name="Text 16"/>
          <p:cNvSpPr/>
          <p:nvPr/>
        </p:nvSpPr>
        <p:spPr>
          <a:xfrm>
            <a:off x="420624" y="2468880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22960" y="2414016"/>
            <a:ext cx="4343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severidade (1-5) e probabilidade (1-5)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834640" y="2999232"/>
            <a:ext cx="0" cy="73152"/>
          </a:xfrm>
          <a:prstGeom prst="line">
            <a:avLst/>
          </a:prstGeom>
          <a:noFill/>
          <a:ln w="25400">
            <a:solidFill>
              <a:srgbClr val="8B000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5760" y="3072384"/>
            <a:ext cx="493776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9050">
            <a:solidFill>
              <a:srgbClr val="8B000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20624" y="3127248"/>
            <a:ext cx="301752" cy="301752"/>
          </a:xfrm>
          <a:prstGeom prst="ellipse">
            <a:avLst/>
          </a:prstGeom>
          <a:solidFill>
            <a:srgbClr val="8B0000"/>
          </a:solidFill>
          <a:ln/>
        </p:spPr>
      </p:sp>
      <p:sp>
        <p:nvSpPr>
          <p:cNvPr id="23" name="Text 21"/>
          <p:cNvSpPr/>
          <p:nvPr/>
        </p:nvSpPr>
        <p:spPr>
          <a:xfrm>
            <a:off x="420624" y="312724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22960" y="3072384"/>
            <a:ext cx="4343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 nivel de risco (matriz 5x5 GRO)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834640" y="3657600"/>
            <a:ext cx="0" cy="73152"/>
          </a:xfrm>
          <a:prstGeom prst="line">
            <a:avLst/>
          </a:prstGeom>
          <a:noFill/>
          <a:ln w="25400">
            <a:solidFill>
              <a:srgbClr val="8B000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65760" y="3730752"/>
            <a:ext cx="493776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9050">
            <a:solidFill>
              <a:srgbClr val="8B000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20624" y="3785616"/>
            <a:ext cx="301752" cy="301752"/>
          </a:xfrm>
          <a:prstGeom prst="ellipse">
            <a:avLst/>
          </a:prstGeom>
          <a:solidFill>
            <a:srgbClr val="8B0000"/>
          </a:solidFill>
          <a:ln/>
        </p:spPr>
      </p:sp>
      <p:sp>
        <p:nvSpPr>
          <p:cNvPr id="28" name="Text 26"/>
          <p:cNvSpPr/>
          <p:nvPr/>
        </p:nvSpPr>
        <p:spPr>
          <a:xfrm>
            <a:off x="420624" y="3785616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22960" y="3730752"/>
            <a:ext cx="4343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Registra controles existentes e recomendados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669280" y="1097280"/>
            <a:ext cx="3200400" cy="1005840"/>
          </a:xfrm>
          <a:prstGeom prst="roundRect">
            <a:avLst>
              <a:gd name="adj" fmla="val 9091"/>
            </a:avLst>
          </a:prstGeom>
          <a:solidFill>
            <a:srgbClr val="E8F5E9"/>
          </a:solidFill>
          <a:ln w="19050">
            <a:solidFill>
              <a:srgbClr val="4CAF5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806440" y="1115568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SAIDA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806440" y="1353312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Inventario de riscos com classificacao GRO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669280" y="2286000"/>
            <a:ext cx="3200400" cy="868680"/>
          </a:xfrm>
          <a:prstGeom prst="roundRect">
            <a:avLst>
              <a:gd name="adj" fmla="val 10526"/>
            </a:avLst>
          </a:prstGeom>
          <a:solidFill>
            <a:srgbClr val="FFF3E0"/>
          </a:solidFill>
          <a:ln w="19050">
            <a:solidFill>
              <a:srgbClr val="FF98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806440" y="2304288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5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GATILHO DE TRANSICAO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5806440" y="2542032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Analise COPSOQ concluida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669280" y="411480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➡ Proxima fase: PLANO DE ACAO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228B22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4572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7 — PLANO DE ACAO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274320" y="4114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DDD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Medidas Preventivas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0" y="45720"/>
            <a:ext cx="1097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>
                    <a:alpha val="3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4800" dirty="0"/>
          </a:p>
        </p:txBody>
      </p:sp>
      <p:sp>
        <p:nvSpPr>
          <p:cNvPr id="6" name="Shape 4"/>
          <p:cNvSpPr/>
          <p:nvPr/>
        </p:nvSpPr>
        <p:spPr>
          <a:xfrm>
            <a:off x="365760" y="1097280"/>
            <a:ext cx="493776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9050">
            <a:solidFill>
              <a:srgbClr val="228B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20624" y="1152144"/>
            <a:ext cx="301752" cy="301752"/>
          </a:xfrm>
          <a:prstGeom prst="ellipse">
            <a:avLst/>
          </a:prstGeom>
          <a:solidFill>
            <a:srgbClr val="228B22"/>
          </a:solidFill>
          <a:ln/>
        </p:spPr>
      </p:sp>
      <p:sp>
        <p:nvSpPr>
          <p:cNvPr id="8" name="Text 6"/>
          <p:cNvSpPr/>
          <p:nvPr/>
        </p:nvSpPr>
        <p:spPr>
          <a:xfrm>
            <a:off x="420624" y="1152144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22960" y="1097280"/>
            <a:ext cx="4343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acoes para cada risco identificado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834640" y="1682496"/>
            <a:ext cx="0" cy="73152"/>
          </a:xfrm>
          <a:prstGeom prst="line">
            <a:avLst/>
          </a:prstGeom>
          <a:noFill/>
          <a:ln w="25400">
            <a:solidFill>
              <a:srgbClr val="228B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5760" y="1755648"/>
            <a:ext cx="493776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9050">
            <a:solidFill>
              <a:srgbClr val="228B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0624" y="1810512"/>
            <a:ext cx="301752" cy="301752"/>
          </a:xfrm>
          <a:prstGeom prst="ellipse">
            <a:avLst/>
          </a:prstGeom>
          <a:solidFill>
            <a:srgbClr val="228B22"/>
          </a:solidFill>
          <a:ln/>
        </p:spPr>
      </p:sp>
      <p:sp>
        <p:nvSpPr>
          <p:cNvPr id="13" name="Text 11"/>
          <p:cNvSpPr/>
          <p:nvPr/>
        </p:nvSpPr>
        <p:spPr>
          <a:xfrm>
            <a:off x="420624" y="1810512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22960" y="1755648"/>
            <a:ext cx="4343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 hierarquia de controles (5 niveis):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31520" y="2414016"/>
            <a:ext cx="4572000" cy="411480"/>
          </a:xfrm>
          <a:prstGeom prst="roundRect">
            <a:avLst>
              <a:gd name="adj" fmla="val 11111"/>
            </a:avLst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2414016"/>
            <a:ext cx="4297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Eliminacao &gt; Substituicao &gt; Engenharia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1520" y="3072384"/>
            <a:ext cx="4572000" cy="411480"/>
          </a:xfrm>
          <a:prstGeom prst="roundRect">
            <a:avLst>
              <a:gd name="adj" fmla="val 11111"/>
            </a:avLst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8680" y="3072384"/>
            <a:ext cx="4297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Administrativo &gt; EPI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834640" y="3657600"/>
            <a:ext cx="0" cy="73152"/>
          </a:xfrm>
          <a:prstGeom prst="line">
            <a:avLst/>
          </a:prstGeom>
          <a:noFill/>
          <a:ln w="25400">
            <a:solidFill>
              <a:srgbClr val="228B2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65760" y="3730752"/>
            <a:ext cx="493776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9050">
            <a:solidFill>
              <a:srgbClr val="228B2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20624" y="3785616"/>
            <a:ext cx="301752" cy="301752"/>
          </a:xfrm>
          <a:prstGeom prst="ellipse">
            <a:avLst/>
          </a:prstGeom>
          <a:solidFill>
            <a:srgbClr val="228B22"/>
          </a:solidFill>
          <a:ln/>
        </p:spPr>
      </p:sp>
      <p:sp>
        <p:nvSpPr>
          <p:cNvPr id="22" name="Text 20"/>
          <p:cNvSpPr/>
          <p:nvPr/>
        </p:nvSpPr>
        <p:spPr>
          <a:xfrm>
            <a:off x="420624" y="3785616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22960" y="3730752"/>
            <a:ext cx="4343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responsavel, prazo, KPI e prioridade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669280" y="1097280"/>
            <a:ext cx="3200400" cy="1005840"/>
          </a:xfrm>
          <a:prstGeom prst="roundRect">
            <a:avLst>
              <a:gd name="adj" fmla="val 9091"/>
            </a:avLst>
          </a:prstGeom>
          <a:solidFill>
            <a:srgbClr val="E8F5E9"/>
          </a:solidFill>
          <a:ln w="19050">
            <a:solidFill>
              <a:srgbClr val="4CAF5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806440" y="1115568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SAIDA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5806440" y="1353312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Plano de acao + Documento GRO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669280" y="2286000"/>
            <a:ext cx="3200400" cy="868680"/>
          </a:xfrm>
          <a:prstGeom prst="roundRect">
            <a:avLst>
              <a:gd name="adj" fmla="val 10526"/>
            </a:avLst>
          </a:prstGeom>
          <a:solidFill>
            <a:srgbClr val="FFF3E0"/>
          </a:solidFill>
          <a:ln w="19050">
            <a:solidFill>
              <a:srgbClr val="FF98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806440" y="2304288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5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GATILHO DE TRANSICAO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806440" y="2542032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Inventario de riscos completo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669280" y="411480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➡ Proxima fase: TREINAMENTO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9370DB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4572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8 — TREINAMENTO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274320" y="4114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DDD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Capacitacao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0" y="45720"/>
            <a:ext cx="1097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>
                    <a:alpha val="3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4800" dirty="0"/>
          </a:p>
        </p:txBody>
      </p:sp>
      <p:sp>
        <p:nvSpPr>
          <p:cNvPr id="6" name="Shape 4"/>
          <p:cNvSpPr/>
          <p:nvPr/>
        </p:nvSpPr>
        <p:spPr>
          <a:xfrm>
            <a:off x="365760" y="1097280"/>
            <a:ext cx="493776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9050">
            <a:solidFill>
              <a:srgbClr val="9370D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20624" y="1152144"/>
            <a:ext cx="301752" cy="301752"/>
          </a:xfrm>
          <a:prstGeom prst="ellipse">
            <a:avLst/>
          </a:prstGeom>
          <a:solidFill>
            <a:srgbClr val="9370DB"/>
          </a:solidFill>
          <a:ln/>
        </p:spPr>
      </p:sp>
      <p:sp>
        <p:nvSpPr>
          <p:cNvPr id="8" name="Text 6"/>
          <p:cNvSpPr/>
          <p:nvPr/>
        </p:nvSpPr>
        <p:spPr>
          <a:xfrm>
            <a:off x="420624" y="1152144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22960" y="1097280"/>
            <a:ext cx="4343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programas de treinamento por risco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834640" y="1682496"/>
            <a:ext cx="0" cy="73152"/>
          </a:xfrm>
          <a:prstGeom prst="line">
            <a:avLst/>
          </a:prstGeom>
          <a:noFill/>
          <a:ln w="25400">
            <a:solidFill>
              <a:srgbClr val="9370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5760" y="1755648"/>
            <a:ext cx="493776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9050">
            <a:solidFill>
              <a:srgbClr val="9370D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0624" y="1810512"/>
            <a:ext cx="301752" cy="301752"/>
          </a:xfrm>
          <a:prstGeom prst="ellipse">
            <a:avLst/>
          </a:prstGeom>
          <a:solidFill>
            <a:srgbClr val="9370DB"/>
          </a:solidFill>
          <a:ln/>
        </p:spPr>
      </p:sp>
      <p:sp>
        <p:nvSpPr>
          <p:cNvPr id="13" name="Text 11"/>
          <p:cNvSpPr/>
          <p:nvPr/>
        </p:nvSpPr>
        <p:spPr>
          <a:xfrm>
            <a:off x="420624" y="1810512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22960" y="1755648"/>
            <a:ext cx="4343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Modulos: Lideranca, CIPA, Assedio, Saude Mental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834640" y="2340864"/>
            <a:ext cx="0" cy="73152"/>
          </a:xfrm>
          <a:prstGeom prst="line">
            <a:avLst/>
          </a:prstGeom>
          <a:noFill/>
          <a:ln w="25400">
            <a:solidFill>
              <a:srgbClr val="9370D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65760" y="2414016"/>
            <a:ext cx="493776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9050">
            <a:solidFill>
              <a:srgbClr val="9370D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20624" y="2468880"/>
            <a:ext cx="301752" cy="301752"/>
          </a:xfrm>
          <a:prstGeom prst="ellipse">
            <a:avLst/>
          </a:prstGeom>
          <a:solidFill>
            <a:srgbClr val="9370DB"/>
          </a:solidFill>
          <a:ln/>
        </p:spPr>
      </p:sp>
      <p:sp>
        <p:nvSpPr>
          <p:cNvPr id="18" name="Text 16"/>
          <p:cNvSpPr/>
          <p:nvPr/>
        </p:nvSpPr>
        <p:spPr>
          <a:xfrm>
            <a:off x="420624" y="2468880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22960" y="2414016"/>
            <a:ext cx="4343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carga horaria e publico-alvo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834640" y="2999232"/>
            <a:ext cx="0" cy="73152"/>
          </a:xfrm>
          <a:prstGeom prst="line">
            <a:avLst/>
          </a:prstGeom>
          <a:noFill/>
          <a:ln w="25400">
            <a:solidFill>
              <a:srgbClr val="9370D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5760" y="3072384"/>
            <a:ext cx="493776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9050">
            <a:solidFill>
              <a:srgbClr val="9370D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20624" y="3127248"/>
            <a:ext cx="301752" cy="301752"/>
          </a:xfrm>
          <a:prstGeom prst="ellipse">
            <a:avLst/>
          </a:prstGeom>
          <a:solidFill>
            <a:srgbClr val="9370DB"/>
          </a:solidFill>
          <a:ln/>
        </p:spPr>
      </p:sp>
      <p:sp>
        <p:nvSpPr>
          <p:cNvPr id="23" name="Text 21"/>
          <p:cNvSpPr/>
          <p:nvPr/>
        </p:nvSpPr>
        <p:spPr>
          <a:xfrm>
            <a:off x="420624" y="312724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22960" y="3072384"/>
            <a:ext cx="4343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 material didatico e cronograma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834640" y="3657600"/>
            <a:ext cx="0" cy="73152"/>
          </a:xfrm>
          <a:prstGeom prst="line">
            <a:avLst/>
          </a:prstGeom>
          <a:noFill/>
          <a:ln w="25400">
            <a:solidFill>
              <a:srgbClr val="9370D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65760" y="3730752"/>
            <a:ext cx="493776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9050">
            <a:solidFill>
              <a:srgbClr val="9370D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20624" y="3785616"/>
            <a:ext cx="301752" cy="301752"/>
          </a:xfrm>
          <a:prstGeom prst="ellipse">
            <a:avLst/>
          </a:prstGeom>
          <a:solidFill>
            <a:srgbClr val="9370DB"/>
          </a:solidFill>
          <a:ln/>
        </p:spPr>
      </p:sp>
      <p:sp>
        <p:nvSpPr>
          <p:cNvPr id="28" name="Text 26"/>
          <p:cNvSpPr/>
          <p:nvPr/>
        </p:nvSpPr>
        <p:spPr>
          <a:xfrm>
            <a:off x="420624" y="3785616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22960" y="3730752"/>
            <a:ext cx="4343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Registra participacao e avaliacao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669280" y="1097280"/>
            <a:ext cx="3200400" cy="1005840"/>
          </a:xfrm>
          <a:prstGeom prst="roundRect">
            <a:avLst>
              <a:gd name="adj" fmla="val 9091"/>
            </a:avLst>
          </a:prstGeom>
          <a:solidFill>
            <a:srgbClr val="E8F5E9"/>
          </a:solidFill>
          <a:ln w="19050">
            <a:solidFill>
              <a:srgbClr val="4CAF5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806440" y="1115568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SAIDA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806440" y="1353312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Programas de treinamento criados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669280" y="2286000"/>
            <a:ext cx="3200400" cy="868680"/>
          </a:xfrm>
          <a:prstGeom prst="roundRect">
            <a:avLst>
              <a:gd name="adj" fmla="val 10526"/>
            </a:avLst>
          </a:prstGeom>
          <a:solidFill>
            <a:srgbClr val="FFF3E0"/>
          </a:solidFill>
          <a:ln w="19050">
            <a:solidFill>
              <a:srgbClr val="FF98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806440" y="2304288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5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GATILHO DE TRANSICAO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5806440" y="2542032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Plano de acao completo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669280" y="411480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➡ Proxima fase: DOCUMENTACAO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4169E1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4572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9 — DOCUMENTACAO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274320" y="4114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DDD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Proposta Final e Documentos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0" y="45720"/>
            <a:ext cx="1097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>
                    <a:alpha val="3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4800" dirty="0"/>
          </a:p>
        </p:txBody>
      </p:sp>
      <p:sp>
        <p:nvSpPr>
          <p:cNvPr id="6" name="Shape 4"/>
          <p:cNvSpPr/>
          <p:nvPr/>
        </p:nvSpPr>
        <p:spPr>
          <a:xfrm>
            <a:off x="365760" y="1097280"/>
            <a:ext cx="493776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9050">
            <a:solidFill>
              <a:srgbClr val="4169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20624" y="1152144"/>
            <a:ext cx="301752" cy="301752"/>
          </a:xfrm>
          <a:prstGeom prst="ellipse">
            <a:avLst/>
          </a:prstGeom>
          <a:solidFill>
            <a:srgbClr val="4169E1"/>
          </a:solidFill>
          <a:ln/>
        </p:spPr>
      </p:sp>
      <p:sp>
        <p:nvSpPr>
          <p:cNvPr id="8" name="Text 6"/>
          <p:cNvSpPr/>
          <p:nvPr/>
        </p:nvSpPr>
        <p:spPr>
          <a:xfrm>
            <a:off x="420624" y="1152144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22960" y="1097280"/>
            <a:ext cx="4343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 PGR, PCMSO, Laudo Tecnico, eSocial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834640" y="1591056"/>
            <a:ext cx="0" cy="73152"/>
          </a:xfrm>
          <a:prstGeom prst="line">
            <a:avLst/>
          </a:prstGeom>
          <a:noFill/>
          <a:ln w="25400">
            <a:solidFill>
              <a:srgbClr val="4169E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5760" y="1664208"/>
            <a:ext cx="493776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9050">
            <a:solidFill>
              <a:srgbClr val="4169E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0624" y="1719072"/>
            <a:ext cx="301752" cy="301752"/>
          </a:xfrm>
          <a:prstGeom prst="ellipse">
            <a:avLst/>
          </a:prstGeom>
          <a:solidFill>
            <a:srgbClr val="4169E1"/>
          </a:solidFill>
          <a:ln/>
        </p:spPr>
      </p:sp>
      <p:sp>
        <p:nvSpPr>
          <p:cNvPr id="13" name="Text 11"/>
          <p:cNvSpPr/>
          <p:nvPr/>
        </p:nvSpPr>
        <p:spPr>
          <a:xfrm>
            <a:off x="420624" y="1719072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22960" y="1664208"/>
            <a:ext cx="4343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 proposta final detalhada com todos os entregaveis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834640" y="2157984"/>
            <a:ext cx="0" cy="73152"/>
          </a:xfrm>
          <a:prstGeom prst="line">
            <a:avLst/>
          </a:prstGeom>
          <a:noFill/>
          <a:ln w="25400">
            <a:solidFill>
              <a:srgbClr val="4169E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65760" y="2231136"/>
            <a:ext cx="493776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9050">
            <a:solidFill>
              <a:srgbClr val="4169E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20624" y="2286000"/>
            <a:ext cx="301752" cy="301752"/>
          </a:xfrm>
          <a:prstGeom prst="ellipse">
            <a:avLst/>
          </a:prstGeom>
          <a:solidFill>
            <a:srgbClr val="4169E1"/>
          </a:solidFill>
          <a:ln/>
        </p:spPr>
      </p:sp>
      <p:sp>
        <p:nvSpPr>
          <p:cNvPr id="18" name="Text 16"/>
          <p:cNvSpPr/>
          <p:nvPr/>
        </p:nvSpPr>
        <p:spPr>
          <a:xfrm>
            <a:off x="420624" y="2286000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22960" y="2231136"/>
            <a:ext cx="4343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Envia proposta final para aprovacao da empresa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834640" y="2724912"/>
            <a:ext cx="0" cy="73152"/>
          </a:xfrm>
          <a:prstGeom prst="line">
            <a:avLst/>
          </a:prstGeom>
          <a:noFill/>
          <a:ln w="25400">
            <a:solidFill>
              <a:srgbClr val="4169E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5760" y="2798064"/>
            <a:ext cx="493776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9050">
            <a:solidFill>
              <a:srgbClr val="4169E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20624" y="2852928"/>
            <a:ext cx="301752" cy="301752"/>
          </a:xfrm>
          <a:prstGeom prst="ellipse">
            <a:avLst/>
          </a:prstGeom>
          <a:solidFill>
            <a:srgbClr val="4169E1"/>
          </a:solidFill>
          <a:ln/>
        </p:spPr>
      </p:sp>
      <p:sp>
        <p:nvSpPr>
          <p:cNvPr id="23" name="Text 21"/>
          <p:cNvSpPr/>
          <p:nvPr/>
        </p:nvSpPr>
        <p:spPr>
          <a:xfrm>
            <a:off x="420624" y="285292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22960" y="2798064"/>
            <a:ext cx="4343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Empresa aprova e libera acesso aos PDFs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834640" y="3291840"/>
            <a:ext cx="0" cy="73152"/>
          </a:xfrm>
          <a:prstGeom prst="line">
            <a:avLst/>
          </a:prstGeom>
          <a:noFill/>
          <a:ln w="25400">
            <a:solidFill>
              <a:srgbClr val="4169E1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65760" y="3364992"/>
            <a:ext cx="493776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9050">
            <a:solidFill>
              <a:srgbClr val="4169E1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20624" y="3419856"/>
            <a:ext cx="301752" cy="301752"/>
          </a:xfrm>
          <a:prstGeom prst="ellipse">
            <a:avLst/>
          </a:prstGeom>
          <a:solidFill>
            <a:srgbClr val="4169E1"/>
          </a:solidFill>
          <a:ln/>
        </p:spPr>
      </p:sp>
      <p:sp>
        <p:nvSpPr>
          <p:cNvPr id="28" name="Text 26"/>
          <p:cNvSpPr/>
          <p:nvPr/>
        </p:nvSpPr>
        <p:spPr>
          <a:xfrm>
            <a:off x="420624" y="3419856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22960" y="3364992"/>
            <a:ext cx="4343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Todos os PDFs assinados digitalmente (ICP-Brasil)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669280" y="1097280"/>
            <a:ext cx="3200400" cy="1005840"/>
          </a:xfrm>
          <a:prstGeom prst="roundRect">
            <a:avLst>
              <a:gd name="adj" fmla="val 9091"/>
            </a:avLst>
          </a:prstGeom>
          <a:solidFill>
            <a:srgbClr val="E8F5E9"/>
          </a:solidFill>
          <a:ln w="19050">
            <a:solidFill>
              <a:srgbClr val="4CAF5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806440" y="1115568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SAIDA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806440" y="1353312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20+ documentos PDF assinados e entregues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669280" y="2286000"/>
            <a:ext cx="3200400" cy="868680"/>
          </a:xfrm>
          <a:prstGeom prst="roundRect">
            <a:avLst>
              <a:gd name="adj" fmla="val 10526"/>
            </a:avLst>
          </a:prstGeom>
          <a:solidFill>
            <a:srgbClr val="FFF3E0"/>
          </a:solidFill>
          <a:ln w="19050">
            <a:solidFill>
              <a:srgbClr val="FF98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806440" y="2304288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5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GATILHO DE TRANSICAO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5806440" y="2542032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Treinamentos e milestones concluidos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669280" y="3337560"/>
            <a:ext cx="3200400" cy="1316736"/>
          </a:xfrm>
          <a:prstGeom prst="roundRect">
            <a:avLst>
              <a:gd name="adj" fmla="val 6944"/>
            </a:avLst>
          </a:prstGeom>
          <a:solidFill>
            <a:srgbClr val="E1F5FE"/>
          </a:solidFill>
          <a:ln w="19050">
            <a:solidFill>
              <a:srgbClr val="0277B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760720" y="3355848"/>
            <a:ext cx="3017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7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✉  COMUNICACOES POR EMAIL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5760720" y="3611880"/>
            <a:ext cx="1463040" cy="164592"/>
          </a:xfrm>
          <a:prstGeom prst="roundRect">
            <a:avLst>
              <a:gd name="adj" fmla="val 22222"/>
            </a:avLst>
          </a:prstGeom>
          <a:solidFill>
            <a:srgbClr val="0277BD"/>
          </a:solidFill>
          <a:ln/>
        </p:spPr>
      </p:sp>
      <p:sp>
        <p:nvSpPr>
          <p:cNvPr id="39" name="Text 37"/>
          <p:cNvSpPr/>
          <p:nvPr/>
        </p:nvSpPr>
        <p:spPr>
          <a:xfrm>
            <a:off x="5760720" y="3611880"/>
            <a:ext cx="14630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Consultoria  →  Empresa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5760720" y="3776472"/>
            <a:ext cx="3017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Proposta final com documentos NR-01 e botoes Aprovar / Rejeitar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5760720" y="3959352"/>
            <a:ext cx="1463040" cy="164592"/>
          </a:xfrm>
          <a:prstGeom prst="roundRect">
            <a:avLst>
              <a:gd name="adj" fmla="val 22222"/>
            </a:avLst>
          </a:prstGeom>
          <a:solidFill>
            <a:srgbClr val="0277BD"/>
          </a:solidFill>
          <a:ln/>
        </p:spPr>
      </p:sp>
      <p:sp>
        <p:nvSpPr>
          <p:cNvPr id="42" name="Text 40"/>
          <p:cNvSpPr/>
          <p:nvPr/>
        </p:nvSpPr>
        <p:spPr>
          <a:xfrm>
            <a:off x="5760720" y="3959352"/>
            <a:ext cx="14630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Empresa  →  Plataforma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5760720" y="4123944"/>
            <a:ext cx="3017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Clique no botao 'Aprovar' (libera download dos PDFs)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5760720" y="4306824"/>
            <a:ext cx="1463040" cy="164592"/>
          </a:xfrm>
          <a:prstGeom prst="roundRect">
            <a:avLst>
              <a:gd name="adj" fmla="val 22222"/>
            </a:avLst>
          </a:prstGeom>
          <a:solidFill>
            <a:srgbClr val="0277BD"/>
          </a:solidFill>
          <a:ln/>
        </p:spPr>
      </p:sp>
      <p:sp>
        <p:nvSpPr>
          <p:cNvPr id="45" name="Text 43"/>
          <p:cNvSpPr/>
          <p:nvPr/>
        </p:nvSpPr>
        <p:spPr>
          <a:xfrm>
            <a:off x="5760720" y="4306824"/>
            <a:ext cx="14630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Consultoria  →  Colaboradores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5760720" y="4471416"/>
            <a:ext cx="3017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Devolutiva: resumo dos resultados da avaliacao psicossocial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5669280" y="46634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➡ Proxima fase: CERTIFICACAO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DAA520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4572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10 — CERTIFICACAO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274320" y="4114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DDD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Certificado NR-01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0" y="45720"/>
            <a:ext cx="1097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>
                    <a:alpha val="3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4800" dirty="0"/>
          </a:p>
        </p:txBody>
      </p:sp>
      <p:sp>
        <p:nvSpPr>
          <p:cNvPr id="6" name="Shape 4"/>
          <p:cNvSpPr/>
          <p:nvPr/>
        </p:nvSpPr>
        <p:spPr>
          <a:xfrm>
            <a:off x="365760" y="1097280"/>
            <a:ext cx="493776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9050">
            <a:solidFill>
              <a:srgbClr val="DAA52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20624" y="1152144"/>
            <a:ext cx="301752" cy="301752"/>
          </a:xfrm>
          <a:prstGeom prst="ellipse">
            <a:avLst/>
          </a:prstGeom>
          <a:solidFill>
            <a:srgbClr val="DAA520"/>
          </a:solidFill>
          <a:ln/>
        </p:spPr>
      </p:sp>
      <p:sp>
        <p:nvSpPr>
          <p:cNvPr id="8" name="Text 6"/>
          <p:cNvSpPr/>
          <p:nvPr/>
        </p:nvSpPr>
        <p:spPr>
          <a:xfrm>
            <a:off x="420624" y="1152144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22960" y="1097280"/>
            <a:ext cx="4343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 score de conformidade no checklist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834640" y="1591056"/>
            <a:ext cx="0" cy="73152"/>
          </a:xfrm>
          <a:prstGeom prst="line">
            <a:avLst/>
          </a:prstGeom>
          <a:noFill/>
          <a:ln w="25400">
            <a:solidFill>
              <a:srgbClr val="DAA52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5760" y="1664208"/>
            <a:ext cx="493776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9050">
            <a:solidFill>
              <a:srgbClr val="DAA52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0624" y="1719072"/>
            <a:ext cx="301752" cy="301752"/>
          </a:xfrm>
          <a:prstGeom prst="ellipse">
            <a:avLst/>
          </a:prstGeom>
          <a:solidFill>
            <a:srgbClr val="DAA520"/>
          </a:solidFill>
          <a:ln/>
        </p:spPr>
      </p:sp>
      <p:sp>
        <p:nvSpPr>
          <p:cNvPr id="13" name="Text 11"/>
          <p:cNvSpPr/>
          <p:nvPr/>
        </p:nvSpPr>
        <p:spPr>
          <a:xfrm>
            <a:off x="420624" y="1719072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22960" y="1664208"/>
            <a:ext cx="4343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Exige minimo de 80% de conformidade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834640" y="2157984"/>
            <a:ext cx="0" cy="73152"/>
          </a:xfrm>
          <a:prstGeom prst="line">
            <a:avLst/>
          </a:prstGeom>
          <a:noFill/>
          <a:ln w="25400">
            <a:solidFill>
              <a:srgbClr val="DAA52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65760" y="2231136"/>
            <a:ext cx="493776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9050">
            <a:solidFill>
              <a:srgbClr val="DAA52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20624" y="2286000"/>
            <a:ext cx="301752" cy="301752"/>
          </a:xfrm>
          <a:prstGeom prst="ellipse">
            <a:avLst/>
          </a:prstGeom>
          <a:solidFill>
            <a:srgbClr val="DAA520"/>
          </a:solidFill>
          <a:ln/>
        </p:spPr>
      </p:sp>
      <p:sp>
        <p:nvSpPr>
          <p:cNvPr id="18" name="Text 16"/>
          <p:cNvSpPr/>
          <p:nvPr/>
        </p:nvSpPr>
        <p:spPr>
          <a:xfrm>
            <a:off x="420624" y="2286000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22960" y="2231136"/>
            <a:ext cx="4343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 que todas as fases anteriores estao 100%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834640" y="2724912"/>
            <a:ext cx="0" cy="73152"/>
          </a:xfrm>
          <a:prstGeom prst="line">
            <a:avLst/>
          </a:prstGeom>
          <a:noFill/>
          <a:ln w="25400">
            <a:solidFill>
              <a:srgbClr val="DAA52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5760" y="2798064"/>
            <a:ext cx="493776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9050">
            <a:solidFill>
              <a:srgbClr val="DAA52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20624" y="2852928"/>
            <a:ext cx="301752" cy="301752"/>
          </a:xfrm>
          <a:prstGeom prst="ellipse">
            <a:avLst/>
          </a:prstGeom>
          <a:solidFill>
            <a:srgbClr val="DAA520"/>
          </a:solidFill>
          <a:ln/>
        </p:spPr>
      </p:sp>
      <p:sp>
        <p:nvSpPr>
          <p:cNvPr id="23" name="Text 21"/>
          <p:cNvSpPr/>
          <p:nvPr/>
        </p:nvSpPr>
        <p:spPr>
          <a:xfrm>
            <a:off x="420624" y="285292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22960" y="2798064"/>
            <a:ext cx="4343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Emite certificado digital de conformidade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834640" y="3291840"/>
            <a:ext cx="0" cy="73152"/>
          </a:xfrm>
          <a:prstGeom prst="line">
            <a:avLst/>
          </a:prstGeom>
          <a:noFill/>
          <a:ln w="25400">
            <a:solidFill>
              <a:srgbClr val="DAA52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65760" y="3364992"/>
            <a:ext cx="493776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9050">
            <a:solidFill>
              <a:srgbClr val="DAA52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20624" y="3419856"/>
            <a:ext cx="301752" cy="301752"/>
          </a:xfrm>
          <a:prstGeom prst="ellipse">
            <a:avLst/>
          </a:prstGeom>
          <a:solidFill>
            <a:srgbClr val="DAA520"/>
          </a:solidFill>
          <a:ln/>
        </p:spPr>
      </p:sp>
      <p:sp>
        <p:nvSpPr>
          <p:cNvPr id="28" name="Text 26"/>
          <p:cNvSpPr/>
          <p:nvPr/>
        </p:nvSpPr>
        <p:spPr>
          <a:xfrm>
            <a:off x="420624" y="3419856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22960" y="3364992"/>
            <a:ext cx="4343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Certificado assinado com ICP-Brasil A1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669280" y="1097280"/>
            <a:ext cx="3200400" cy="1005840"/>
          </a:xfrm>
          <a:prstGeom prst="roundRect">
            <a:avLst>
              <a:gd name="adj" fmla="val 9091"/>
            </a:avLst>
          </a:prstGeom>
          <a:solidFill>
            <a:srgbClr val="E8F5E9"/>
          </a:solidFill>
          <a:ln w="19050">
            <a:solidFill>
              <a:srgbClr val="4CAF5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806440" y="1115568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SAIDA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806440" y="1353312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Certificado de Conformidade NR-01 emitido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669280" y="2286000"/>
            <a:ext cx="3200400" cy="868680"/>
          </a:xfrm>
          <a:prstGeom prst="roundRect">
            <a:avLst>
              <a:gd name="adj" fmla="val 10526"/>
            </a:avLst>
          </a:prstGeom>
          <a:solidFill>
            <a:srgbClr val="FFF3E0"/>
          </a:solidFill>
          <a:ln w="19050">
            <a:solidFill>
              <a:srgbClr val="FF98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806440" y="2304288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5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GATILHO DE TRANSICAO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5806440" y="2542032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&gt;= 80% + todas as fases completas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669280" y="3337560"/>
            <a:ext cx="3200400" cy="621792"/>
          </a:xfrm>
          <a:prstGeom prst="roundRect">
            <a:avLst>
              <a:gd name="adj" fmla="val 14706"/>
            </a:avLst>
          </a:prstGeom>
          <a:solidFill>
            <a:srgbClr val="E1F5FE"/>
          </a:solidFill>
          <a:ln w="19050">
            <a:solidFill>
              <a:srgbClr val="0277B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760720" y="3355848"/>
            <a:ext cx="3017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7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✉  COMUNICACOES POR EMAIL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5760720" y="3611880"/>
            <a:ext cx="1463040" cy="164592"/>
          </a:xfrm>
          <a:prstGeom prst="roundRect">
            <a:avLst>
              <a:gd name="adj" fmla="val 22222"/>
            </a:avLst>
          </a:prstGeom>
          <a:solidFill>
            <a:srgbClr val="0277BD"/>
          </a:solidFill>
          <a:ln/>
        </p:spPr>
      </p:sp>
      <p:sp>
        <p:nvSpPr>
          <p:cNvPr id="39" name="Text 37"/>
          <p:cNvSpPr/>
          <p:nvPr/>
        </p:nvSpPr>
        <p:spPr>
          <a:xfrm>
            <a:off x="5760720" y="3611880"/>
            <a:ext cx="14630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Plataforma  →  Empresa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5760720" y="3776472"/>
            <a:ext cx="3017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Certificado de Conformidade NR-01 emitido (PDF assinado)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5669280" y="46634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Processo NR-01 concluido!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8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Resumo do Fluxo SamurAI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914400" y="10972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C8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474720" y="10972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DDD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fases sequenciais com auto-transicao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914400" y="15087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C8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Instrumento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474720" y="15087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DDD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COPSOQ-II (76 questoes, 12 dimensoes)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4400" y="19202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C8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Classificacao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474720" y="192024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DDD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tipos de perigo MTE + Matriz GRO 5x5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23317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C8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Controles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474720" y="23317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DDD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Hierarquia de 5 niveis (Eliminacao a EPI)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14400" y="27432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C8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Documentos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474720" y="274320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DDD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20+ PDFs com assinatura digital ICP-Brasil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14400" y="31546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C8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474720" y="31546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DDD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Flash + fallback deterministico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14400" y="35661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C8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Integracao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474720" y="35661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DDD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eSocial (S-2210/S-2220/S-2240), PGR, PCMSO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914400" y="39776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C8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Certificacao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474720" y="397764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DDD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Certificado NR-01 com score &gt;= 80%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14400" y="43891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C8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Prazo legal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474720" y="43891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DDD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26/05/2026 (Portaria MTE n. 1.419/2024)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Black Belt Platform v2.0 — blackbeltconsultoria.com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SamurAI — Fluxograma NR-01</dc:title>
  <dc:subject>Fluxo completo das 10 fases do agente SamurAI</dc:subject>
  <dc:creator>Black Belt Platform</dc:creator>
  <cp:lastModifiedBy>Black Belt Platform</cp:lastModifiedBy>
  <cp:revision>1</cp:revision>
  <dcterms:created xsi:type="dcterms:W3CDTF">2026-04-05T18:25:43Z</dcterms:created>
  <dcterms:modified xsi:type="dcterms:W3CDTF">2026-04-05T18:25:43Z</dcterms:modified>
</cp:coreProperties>
</file>